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1619b7-ad12-3905-6940-3d7772fee1dd}">
          <p14:sldIdLst>
            <p14:sldId id="256"/>
            <p14:sldId id="257"/>
            <p14:sldId id="258"/>
          </p14:sldIdLst>
        </p14:section>
        <p14:section name="Walkthrough" id="{af7eae55-45ac-e8bd-a1bd-ff95d6808ee3}">
          <p14:sldIdLst>
            <p14:sldId id="259"/>
            <p14:sldId id="260"/>
            <p14:sldId id="261"/>
            <p14:sldId id="262"/>
          </p14:sldIdLst>
        </p14:section>
        <p14:section name="How it works" id="{3431cf36-38ad-4ccb-fa6a-784fca5a2362}">
          <p14:sldIdLst>
            <p14:sldId id="263"/>
            <p14:sldId id="264"/>
            <p14:sldId id="265"/>
          </p14:sldIdLst>
        </p14:section>
        <p14:section name="Status" id="{d7177abc-f213-e9c4-0481-30fd1058b6f2}">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a buyer already knows some suppliers and needs to check what those suppliers claim. VeriSource does the checking and shows its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only the effort of checking. It is trust. We saw a small model invent a count that did not exist, and that shaped the design: the model never states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four steps. The rest of the demo walks through them with a real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starts here. Paste the message with the four suppliers. Point out that nothing is checked yet; the agent has only drafted what it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story for a buyer. The agent proposes, the buyer decides. Show the checks card and tick the licence check. Mention the 'what counts as proof' expanders.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verification in the demo. While it runs (about four minutes for four suppliers), talk through slides 7 and 8, or take questions. The 257 s figure is from a measured live run; 236 s was for two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report. Show a proven row and expand its Record to show the source and publication date. Then show an unproven row and its 'records set aside'. Stress: unproven is not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is fixed on purpose. Processing state (queued, checking, done) is shown separately from the verdict. Be upfront that contradicted exists in the design but cannot be demonstrated on the real data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technical view. Key message: the model sits in the first box only. Verdicts come from the evidence engine through ordinary application code. The privacy note matters: the typed chat text is the one thing that leaves the laptop, and the UI discloses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separates VeriSource from a neighbouring chatbot: it could not truthfully claim its answers come only from stored evidence; this one can. The guardrails stay in place whichever model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here. If a buyer ticks 'valid today' as required, no supplier qualifies, by design. We prefer an honest gap to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numbers we actually measured. The 257 s run was live, four suppliers; the ~5 s case creation was from a pasted message. We have no accuracy figure and will not quote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discovery is the closest to the original agentic goal. Outreach is only ever with the buyer's approval of each message. None of the roadmap items is built; they are drafted as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then take questions. If time allows, show the cases drawer to reopen an earlier assessed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877824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749040"/>
            <a:ext cx="8229600" cy="118872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640080" y="6400800"/>
            <a:ext cx="2743200" cy="274320"/>
          </a:xfrm>
          <a:prstGeom prst="rect">
            <a:avLst/>
          </a:prstGeom>
          <a:noFill/>
          <a:ln/>
        </p:spPr>
        <p:txBody>
          <a:bodyPr wrap="square" lIns="0" tIns="0" rIns="0" bIns="0" rtlCol="0" anchor="ctr"/>
          <a:lstStyle/>
          <a:p>
            <a:pPr indent="0" marL="0">
              <a:buNone/>
            </a:pPr>
            <a:r>
              <a:rPr lang="en-US" sz="1100" dirty="0">
                <a:solidFill>
                  <a:schemeClr val="accent5"/>
                </a:solidFill>
              </a:rPr>
              <a:t>VeriSource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hield">    </p:cNvPr>
          <p:cNvPicPr>
            <a:picLocks noChangeAspect="1"/>
          </p:cNvPicPr>
          <p:nvPr/>
        </p:nvPicPr>
        <p:blipFill>
          <a:blip r:embed="rId1"/>
          <a:stretch>
            <a:fillRect/>
          </a:stretch>
        </p:blipFill>
        <p:spPr>
          <a:xfrm>
            <a:off x="640080" y="822960"/>
            <a:ext cx="640080" cy="640080"/>
          </a:xfrm>
          <a:prstGeom prst="rect">
            <a:avLst/>
          </a:prstGeom>
        </p:spPr>
      </p:pic>
      <p:sp>
        <p:nvSpPr>
          <p:cNvPr id="3" name="Text 0"/>
          <p:cNvSpPr txBox="1"/>
          <p:nvPr/>
        </p:nvSpPr>
        <p:spPr>
          <a:xfrm>
            <a:off x="1508760" y="960120"/>
            <a:ext cx="7315200" cy="365760"/>
          </a:xfrm>
          <a:prstGeom prst="rect">
            <a:avLst/>
          </a:prstGeom>
          <a:noFill/>
          <a:ln/>
        </p:spPr>
        <p:txBody>
          <a:bodyPr wrap="square" lIns="0" tIns="0" rIns="0" bIns="0" rtlCol="0" anchor="t"/>
          <a:lstStyle/>
          <a:p>
            <a:pPr indent="0" marL="0">
              <a:buNone/>
            </a:pPr>
            <a:r>
              <a:rPr lang="en-US" sz="1600" b="1" spc="300" kern="0" dirty="0">
                <a:solidFill>
                  <a:schemeClr val="accent6"/>
                </a:solidFill>
              </a:rPr>
              <a:t>A VERIFICATION AGENT FOR BUYERS</a:t>
            </a:r>
            <a:endParaRPr lang="en-US" sz="1600" dirty="0"/>
          </a:p>
        </p:txBody>
      </p:sp>
      <p:sp>
        <p:nvSpPr>
          <p:cNvPr id="4" name="Text 0"/>
          <p:cNvSpPr/>
          <p:nvPr>
            <p:ph idx="100" type="title" hasCustomPrompt="1"/>
          </p:nvPr>
        </p:nvSpPr>
        <p:spPr>
          <a:xfrm>
            <a:off x="640080" y="1828800"/>
            <a:ext cx="8778240" cy="1737360"/>
          </a:xfrm>
          <a:prstGeom prst="rect">
            <a:avLst/>
          </a:prstGeom>
          <a:noFill/>
          <a:ln/>
        </p:spPr>
        <p:txBody>
          <a:bodyPr wrap="square" lIns="0" tIns="0" rIns="0" bIns="0" rtlCol="0" anchor="t"/>
          <a:lstStyle/>
          <a:p>
            <a:pPr algn="l" indent="0" marL="0">
              <a:buNone/>
            </a:pPr>
            <a:r>
              <a:rPr lang="en-US" sz="5400" b="1" dirty="0">
                <a:solidFill>
                  <a:schemeClr val="bg1"/>
                </a:solidFill>
              </a:rPr>
              <a:t>VeriSource</a:t>
            </a:r>
            <a:endParaRPr lang="en-US" sz="5400" dirty="0"/>
          </a:p>
        </p:txBody>
      </p:sp>
      <p:sp>
        <p:nvSpPr>
          <p:cNvPr id="5" name="Text 0"/>
          <p:cNvSpPr/>
          <p:nvPr>
            <p:ph idx="101" type="body" hasCustomPrompt="1"/>
          </p:nvPr>
        </p:nvSpPr>
        <p:spPr>
          <a:xfrm>
            <a:off x="640080" y="3749040"/>
            <a:ext cx="8229600" cy="1188720"/>
          </a:xfrm>
          <a:prstGeom prst="rect">
            <a:avLst/>
          </a:prstGeom>
          <a:noFill/>
          <a:ln/>
        </p:spPr>
        <p:txBody>
          <a:bodyPr wrap="square" lIns="0" tIns="0" rIns="0" bIns="0" rtlCol="0" anchor="t"/>
          <a:lstStyle/>
          <a:p>
            <a:pPr algn="l" indent="0" marL="0">
              <a:buNone/>
            </a:pPr>
            <a:r>
              <a:rPr lang="en-US" sz="2200" dirty="0">
                <a:solidFill>
                  <a:schemeClr val="accent6"/>
                </a:solidFill>
              </a:rPr>
              <a:t>Check what suppliers claim against official sources, and see exactly how each answer was reached.</a:t>
            </a:r>
            <a:endParaRPr lang="en-US" sz="2200" dirty="0"/>
          </a:p>
        </p:txBody>
      </p:sp>
      <p:sp>
        <p:nvSpPr>
          <p:cNvPr id="6" name="Text 3"/>
          <p:cNvSpPr txBox="1"/>
          <p:nvPr/>
        </p:nvSpPr>
        <p:spPr>
          <a:xfrm>
            <a:off x="640080" y="6035040"/>
            <a:ext cx="5486400" cy="365760"/>
          </a:xfrm>
          <a:prstGeom prst="rect">
            <a:avLst/>
          </a:prstGeom>
          <a:noFill/>
          <a:ln/>
        </p:spPr>
        <p:txBody>
          <a:bodyPr wrap="square" lIns="0" tIns="0" rIns="0" bIns="0" rtlCol="0" anchor="t"/>
          <a:lstStyle/>
          <a:p>
            <a:pPr indent="0" marL="0">
              <a:buNone/>
            </a:pPr>
            <a:r>
              <a:rPr lang="en-US" sz="1600" dirty="0">
                <a:solidFill>
                  <a:schemeClr val="accent6"/>
                </a:solidFill>
              </a:rPr>
              <a:t>Product demo  |  India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Supplier claims are hard to verify by hand</a:t>
            </a:r>
            <a:endParaRPr lang="en-US" sz="3400" dirty="0"/>
          </a:p>
        </p:txBody>
      </p:sp>
      <p:sp>
        <p:nvSpPr>
          <p:cNvPr id="3" name="dot-FiSearch"/>
          <p:cNvSpPr/>
          <p:nvPr/>
        </p:nvSpPr>
        <p:spPr>
          <a:xfrm>
            <a:off x="640080" y="1600200"/>
            <a:ext cx="777240" cy="777240"/>
          </a:xfrm>
          <a:prstGeom prst="ellipse">
            <a:avLst/>
          </a:prstGeom>
          <a:solidFill>
            <a:schemeClr val="accent1"/>
          </a:solidFill>
          <a:ln/>
        </p:spPr>
      </p:sp>
      <p:pic>
        <p:nvPicPr>
          <p:cNvPr id="4" name="Image 0" descr="FiSearch">    </p:cNvPr>
          <p:cNvPicPr>
            <a:picLocks noChangeAspect="1"/>
          </p:cNvPicPr>
          <p:nvPr/>
        </p:nvPicPr>
        <p:blipFill>
          <a:blip r:embed="rId1"/>
          <a:stretch>
            <a:fillRect/>
          </a:stretch>
        </p:blipFill>
        <p:spPr>
          <a:xfrm>
            <a:off x="811073" y="1771193"/>
            <a:ext cx="435254" cy="435254"/>
          </a:xfrm>
          <a:prstGeom prst="rect">
            <a:avLst/>
          </a:prstGeom>
        </p:spPr>
      </p:pic>
      <p:sp>
        <p:nvSpPr>
          <p:cNvPr id="5" name="Text 2"/>
          <p:cNvSpPr txBox="1"/>
          <p:nvPr/>
        </p:nvSpPr>
        <p:spPr>
          <a:xfrm>
            <a:off x="1691640" y="1581912"/>
            <a:ext cx="5120640" cy="411480"/>
          </a:xfrm>
          <a:prstGeom prst="rect">
            <a:avLst/>
          </a:prstGeom>
          <a:noFill/>
          <a:ln/>
        </p:spPr>
        <p:txBody>
          <a:bodyPr wrap="square" lIns="0" tIns="0" rIns="0" bIns="0" rtlCol="0" anchor="t"/>
          <a:lstStyle/>
          <a:p>
            <a:pPr indent="0" marL="0">
              <a:buNone/>
            </a:pPr>
            <a:r>
              <a:rPr lang="en-US" sz="2200" b="1" dirty="0">
                <a:solidFill>
                  <a:schemeClr val="tx2"/>
                </a:solidFill>
              </a:rPr>
              <a:t>Evidence is scattered</a:t>
            </a:r>
            <a:endParaRPr lang="en-US" sz="2200" dirty="0"/>
          </a:p>
        </p:txBody>
      </p:sp>
      <p:sp>
        <p:nvSpPr>
          <p:cNvPr id="6" name="Text 3"/>
          <p:cNvSpPr txBox="1"/>
          <p:nvPr/>
        </p:nvSpPr>
        <p:spPr>
          <a:xfrm>
            <a:off x="1691640" y="2011680"/>
            <a:ext cx="5120640" cy="822960"/>
          </a:xfrm>
          <a:prstGeom prst="rect">
            <a:avLst/>
          </a:prstGeom>
          <a:noFill/>
          <a:ln/>
        </p:spPr>
        <p:txBody>
          <a:bodyPr wrap="square" lIns="0" tIns="0" rIns="0" bIns="0" rtlCol="0" anchor="t"/>
          <a:lstStyle/>
          <a:p>
            <a:pPr indent="0" marL="0">
              <a:buNone/>
            </a:pPr>
            <a:r>
              <a:rPr lang="en-US" sz="1600" dirty="0">
                <a:solidFill>
                  <a:schemeClr val="accent5"/>
                </a:solidFill>
              </a:rPr>
              <a:t>Official lists, issuer records and supplier websites, each checked one supplier at a time.</a:t>
            </a:r>
            <a:endParaRPr lang="en-US" sz="1600" dirty="0"/>
          </a:p>
        </p:txBody>
      </p:sp>
      <p:sp>
        <p:nvSpPr>
          <p:cNvPr id="7" name="dot-FiAlertCircle"/>
          <p:cNvSpPr/>
          <p:nvPr/>
        </p:nvSpPr>
        <p:spPr>
          <a:xfrm>
            <a:off x="640080" y="3154680"/>
            <a:ext cx="777240" cy="777240"/>
          </a:xfrm>
          <a:prstGeom prst="ellipse">
            <a:avLst/>
          </a:prstGeom>
          <a:solidFill>
            <a:schemeClr val="accent1"/>
          </a:solidFill>
          <a:ln/>
        </p:spPr>
      </p:sp>
      <p:pic>
        <p:nvPicPr>
          <p:cNvPr id="8" name="Image 1" descr="FiAlertCircle">    </p:cNvPr>
          <p:cNvPicPr>
            <a:picLocks noChangeAspect="1"/>
          </p:cNvPicPr>
          <p:nvPr/>
        </p:nvPicPr>
        <p:blipFill>
          <a:blip r:embed="rId2"/>
          <a:stretch>
            <a:fillRect/>
          </a:stretch>
        </p:blipFill>
        <p:spPr>
          <a:xfrm>
            <a:off x="811073" y="3325673"/>
            <a:ext cx="435254" cy="435254"/>
          </a:xfrm>
          <a:prstGeom prst="rect">
            <a:avLst/>
          </a:prstGeom>
        </p:spPr>
      </p:pic>
      <p:sp>
        <p:nvSpPr>
          <p:cNvPr id="9" name="Text 5"/>
          <p:cNvSpPr txBox="1"/>
          <p:nvPr/>
        </p:nvSpPr>
        <p:spPr>
          <a:xfrm>
            <a:off x="1691640" y="3136392"/>
            <a:ext cx="5120640" cy="411480"/>
          </a:xfrm>
          <a:prstGeom prst="rect">
            <a:avLst/>
          </a:prstGeom>
          <a:noFill/>
          <a:ln/>
        </p:spPr>
        <p:txBody>
          <a:bodyPr wrap="square" lIns="0" tIns="0" rIns="0" bIns="0" rtlCol="0" anchor="t"/>
          <a:lstStyle/>
          <a:p>
            <a:pPr indent="0" marL="0">
              <a:buNone/>
            </a:pPr>
            <a:r>
              <a:rPr lang="en-US" sz="2200" b="1" dirty="0">
                <a:solidFill>
                  <a:schemeClr val="tx2"/>
                </a:solidFill>
              </a:rPr>
              <a:t>Claims are self-reported</a:t>
            </a:r>
            <a:endParaRPr lang="en-US" sz="2200" dirty="0"/>
          </a:p>
        </p:txBody>
      </p:sp>
      <p:sp>
        <p:nvSpPr>
          <p:cNvPr id="10" name="Text 6"/>
          <p:cNvSpPr txBox="1"/>
          <p:nvPr/>
        </p:nvSpPr>
        <p:spPr>
          <a:xfrm>
            <a:off x="1691640" y="3566160"/>
            <a:ext cx="5120640" cy="822960"/>
          </a:xfrm>
          <a:prstGeom prst="rect">
            <a:avLst/>
          </a:prstGeom>
          <a:noFill/>
          <a:ln/>
        </p:spPr>
        <p:txBody>
          <a:bodyPr wrap="square" lIns="0" tIns="0" rIns="0" bIns="0" rtlCol="0" anchor="t"/>
          <a:lstStyle/>
          <a:p>
            <a:pPr indent="0" marL="0">
              <a:buNone/>
            </a:pPr>
            <a:r>
              <a:rPr lang="en-US" sz="1600" dirty="0">
                <a:solidFill>
                  <a:schemeClr val="accent5"/>
                </a:solidFill>
              </a:rPr>
              <a:t>A supplier's website says what the supplier wants to say.</a:t>
            </a:r>
            <a:endParaRPr lang="en-US" sz="1600" dirty="0"/>
          </a:p>
        </p:txBody>
      </p:sp>
      <p:sp>
        <p:nvSpPr>
          <p:cNvPr id="11" name="dot-FiMessageSquare"/>
          <p:cNvSpPr/>
          <p:nvPr/>
        </p:nvSpPr>
        <p:spPr>
          <a:xfrm>
            <a:off x="640080" y="4709160"/>
            <a:ext cx="777240" cy="777240"/>
          </a:xfrm>
          <a:prstGeom prst="ellipse">
            <a:avLst/>
          </a:prstGeom>
          <a:solidFill>
            <a:schemeClr val="accent1"/>
          </a:solidFill>
          <a:ln/>
        </p:spPr>
      </p:sp>
      <p:pic>
        <p:nvPicPr>
          <p:cNvPr id="12" name="Image 2" descr="FiMessageSquare">    </p:cNvPr>
          <p:cNvPicPr>
            <a:picLocks noChangeAspect="1"/>
          </p:cNvPicPr>
          <p:nvPr/>
        </p:nvPicPr>
        <p:blipFill>
          <a:blip r:embed="rId3"/>
          <a:stretch>
            <a:fillRect/>
          </a:stretch>
        </p:blipFill>
        <p:spPr>
          <a:xfrm>
            <a:off x="811073" y="4880153"/>
            <a:ext cx="435254" cy="435254"/>
          </a:xfrm>
          <a:prstGeom prst="rect">
            <a:avLst/>
          </a:prstGeom>
        </p:spPr>
      </p:pic>
      <p:sp>
        <p:nvSpPr>
          <p:cNvPr id="13" name="Text 8"/>
          <p:cNvSpPr txBox="1"/>
          <p:nvPr/>
        </p:nvSpPr>
        <p:spPr>
          <a:xfrm>
            <a:off x="1691640" y="4690872"/>
            <a:ext cx="5120640" cy="411480"/>
          </a:xfrm>
          <a:prstGeom prst="rect">
            <a:avLst/>
          </a:prstGeom>
          <a:noFill/>
          <a:ln/>
        </p:spPr>
        <p:txBody>
          <a:bodyPr wrap="square" lIns="0" tIns="0" rIns="0" bIns="0" rtlCol="0" anchor="t"/>
          <a:lstStyle/>
          <a:p>
            <a:pPr indent="0" marL="0">
              <a:buNone/>
            </a:pPr>
            <a:r>
              <a:rPr lang="en-US" sz="2200" b="1" dirty="0">
                <a:solidFill>
                  <a:schemeClr val="tx2"/>
                </a:solidFill>
              </a:rPr>
              <a:t>A chatbot can sound sure while guessing</a:t>
            </a:r>
            <a:endParaRPr lang="en-US" sz="2200" dirty="0"/>
          </a:p>
        </p:txBody>
      </p:sp>
      <p:sp>
        <p:nvSpPr>
          <p:cNvPr id="14" name="Text 9"/>
          <p:cNvSpPr txBox="1"/>
          <p:nvPr/>
        </p:nvSpPr>
        <p:spPr>
          <a:xfrm>
            <a:off x="1691640" y="5120640"/>
            <a:ext cx="5120640" cy="822960"/>
          </a:xfrm>
          <a:prstGeom prst="rect">
            <a:avLst/>
          </a:prstGeom>
          <a:noFill/>
          <a:ln/>
        </p:spPr>
        <p:txBody>
          <a:bodyPr wrap="square" lIns="0" tIns="0" rIns="0" bIns="0" rtlCol="0" anchor="t"/>
          <a:lstStyle/>
          <a:p>
            <a:pPr indent="0" marL="0">
              <a:buNone/>
            </a:pPr>
            <a:r>
              <a:rPr lang="en-US" sz="1600" dirty="0">
                <a:solidFill>
                  <a:schemeClr val="accent5"/>
                </a:solidFill>
              </a:rPr>
              <a:t>The buyer cannot tell which answers come from evidence.</a:t>
            </a:r>
            <a:endParaRPr lang="en-US" sz="1600" dirty="0"/>
          </a:p>
        </p:txBody>
      </p:sp>
      <p:sp>
        <p:nvSpPr>
          <p:cNvPr id="15" name="Shape 10"/>
          <p:cNvSpPr/>
          <p:nvPr/>
        </p:nvSpPr>
        <p:spPr>
          <a:xfrm>
            <a:off x="7406640" y="1600200"/>
            <a:ext cx="4160520" cy="4480560"/>
          </a:xfrm>
          <a:prstGeom prst="roundRect">
            <a:avLst>
              <a:gd name="adj" fmla="val 2637"/>
            </a:avLst>
          </a:prstGeom>
          <a:solidFill>
            <a:schemeClr val="tx2"/>
          </a:solidFill>
          <a:ln/>
        </p:spPr>
      </p:sp>
      <p:sp>
        <p:nvSpPr>
          <p:cNvPr id="16" name="Text 11"/>
          <p:cNvSpPr txBox="1"/>
          <p:nvPr/>
        </p:nvSpPr>
        <p:spPr>
          <a:xfrm>
            <a:off x="7772400" y="1920240"/>
            <a:ext cx="3474720" cy="320040"/>
          </a:xfrm>
          <a:prstGeom prst="rect">
            <a:avLst/>
          </a:prstGeom>
          <a:noFill/>
          <a:ln/>
        </p:spPr>
        <p:txBody>
          <a:bodyPr wrap="square" lIns="0" tIns="0" rIns="0" bIns="0" rtlCol="0" anchor="t"/>
          <a:lstStyle/>
          <a:p>
            <a:pPr indent="0" marL="0">
              <a:buNone/>
            </a:pPr>
            <a:r>
              <a:rPr lang="en-US" sz="1300" b="1" spc="200" kern="0" dirty="0">
                <a:solidFill>
                  <a:schemeClr val="accent6"/>
                </a:solidFill>
              </a:rPr>
              <a:t>SEEN IN OUR OWN TESTING</a:t>
            </a:r>
            <a:endParaRPr lang="en-US" sz="1300" dirty="0"/>
          </a:p>
        </p:txBody>
      </p:sp>
      <p:sp>
        <p:nvSpPr>
          <p:cNvPr id="17" name="Text 12"/>
          <p:cNvSpPr txBox="1"/>
          <p:nvPr/>
        </p:nvSpPr>
        <p:spPr>
          <a:xfrm>
            <a:off x="7772400" y="2423160"/>
            <a:ext cx="3474720" cy="118872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“4 out of 12 checks”</a:t>
            </a:r>
            <a:endParaRPr lang="en-US" sz="3200" dirty="0"/>
          </a:p>
        </p:txBody>
      </p:sp>
      <p:sp>
        <p:nvSpPr>
          <p:cNvPr id="18" name="Text 13"/>
          <p:cNvSpPr txBox="1"/>
          <p:nvPr/>
        </p:nvSpPr>
        <p:spPr>
          <a:xfrm>
            <a:off x="7772400" y="3749040"/>
            <a:ext cx="3474720" cy="914400"/>
          </a:xfrm>
          <a:prstGeom prst="rect">
            <a:avLst/>
          </a:prstGeom>
          <a:noFill/>
          <a:ln/>
        </p:spPr>
        <p:txBody>
          <a:bodyPr wrap="square" lIns="0" tIns="0" rIns="0" bIns="0" rtlCol="0" anchor="t"/>
          <a:lstStyle/>
          <a:p>
            <a:pPr indent="0" marL="0">
              <a:buNone/>
            </a:pPr>
            <a:r>
              <a:rPr lang="en-US" sz="1800" dirty="0">
                <a:solidFill>
                  <a:schemeClr val="bg1"/>
                </a:solidFill>
              </a:rPr>
              <a:t>A small language model once said this. The number was invented.</a:t>
            </a:r>
            <a:endParaRPr lang="en-US" sz="1800" dirty="0"/>
          </a:p>
        </p:txBody>
      </p:sp>
      <p:sp>
        <p:nvSpPr>
          <p:cNvPr id="19" name="Text 14"/>
          <p:cNvSpPr txBox="1"/>
          <p:nvPr/>
        </p:nvSpPr>
        <p:spPr>
          <a:xfrm>
            <a:off x="7772400" y="4846320"/>
            <a:ext cx="3474720" cy="914400"/>
          </a:xfrm>
          <a:prstGeom prst="rect">
            <a:avLst/>
          </a:prstGeom>
          <a:noFill/>
          <a:ln/>
        </p:spPr>
        <p:txBody>
          <a:bodyPr wrap="square" lIns="0" tIns="0" rIns="0" bIns="0" rtlCol="0" anchor="t"/>
          <a:lstStyle/>
          <a:p>
            <a:pPr indent="0" marL="0">
              <a:buNone/>
            </a:pPr>
            <a:r>
              <a:rPr lang="en-US" sz="1800" b="1" dirty="0">
                <a:solidFill>
                  <a:schemeClr val="accent6"/>
                </a:solidFill>
              </a:rPr>
              <a:t>So in VeriSource the app writes every result, not the model.</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VeriSource in four steps</a:t>
            </a:r>
            <a:endParaRPr lang="en-US" sz="3400" dirty="0"/>
          </a:p>
        </p:txBody>
      </p:sp>
      <p:sp>
        <p:nvSpPr>
          <p:cNvPr id="3" name="Text 1"/>
          <p:cNvSpPr txBox="1"/>
          <p:nvPr/>
        </p:nvSpPr>
        <p:spPr>
          <a:xfrm>
            <a:off x="640080" y="1371600"/>
            <a:ext cx="10424160" cy="914400"/>
          </a:xfrm>
          <a:prstGeom prst="rect">
            <a:avLst/>
          </a:prstGeom>
          <a:noFill/>
          <a:ln/>
        </p:spPr>
        <p:txBody>
          <a:bodyPr wrap="square" lIns="0" tIns="0" rIns="0" bIns="0" rtlCol="0" anchor="t"/>
          <a:lstStyle/>
          <a:p>
            <a:pPr indent="0" marL="0">
              <a:buNone/>
            </a:pPr>
            <a:r>
              <a:rPr lang="en-US" sz="1800" dirty="0">
                <a:solidFill>
                  <a:schemeClr val="accent5"/>
                </a:solidFill>
              </a:rPr>
              <a:t>The buyer describes a need and the suppliers they know. The agent gathers evidence from public pages and official records. Every claim ends as proven, unproven or contradicted, with its source and date.</a:t>
            </a:r>
            <a:endParaRPr lang="en-US" sz="1800" dirty="0"/>
          </a:p>
        </p:txBody>
      </p:sp>
      <p:sp>
        <p:nvSpPr>
          <p:cNvPr id="4" name="Shape 2"/>
          <p:cNvSpPr/>
          <p:nvPr/>
        </p:nvSpPr>
        <p:spPr>
          <a:xfrm>
            <a:off x="640080" y="2606040"/>
            <a:ext cx="2514600" cy="3154680"/>
          </a:xfrm>
          <a:prstGeom prst="roundRect">
            <a:avLst>
              <a:gd name="adj" fmla="val 4364"/>
            </a:avLst>
          </a:prstGeom>
          <a:solidFill>
            <a:schemeClr val="bg2"/>
          </a:solidFill>
          <a:ln/>
        </p:spPr>
      </p:sp>
      <p:sp>
        <p:nvSpPr>
          <p:cNvPr id="5" name="dot-FiMessageCircle"/>
          <p:cNvSpPr/>
          <p:nvPr/>
        </p:nvSpPr>
        <p:spPr>
          <a:xfrm>
            <a:off x="914400" y="2880360"/>
            <a:ext cx="731520" cy="731520"/>
          </a:xfrm>
          <a:prstGeom prst="ellipse">
            <a:avLst/>
          </a:prstGeom>
          <a:solidFill>
            <a:schemeClr val="accent1"/>
          </a:solidFill>
          <a:ln/>
        </p:spPr>
      </p:sp>
      <p:pic>
        <p:nvPicPr>
          <p:cNvPr id="6" name="Image 0" descr="FiMessageCircle">    </p:cNvPr>
          <p:cNvPicPr>
            <a:picLocks noChangeAspect="1"/>
          </p:cNvPicPr>
          <p:nvPr/>
        </p:nvPicPr>
        <p:blipFill>
          <a:blip r:embed="rId1"/>
          <a:stretch>
            <a:fillRect/>
          </a:stretch>
        </p:blipFill>
        <p:spPr>
          <a:xfrm>
            <a:off x="1075334" y="3041294"/>
            <a:ext cx="409651" cy="409651"/>
          </a:xfrm>
          <a:prstGeom prst="rect">
            <a:avLst/>
          </a:prstGeom>
        </p:spPr>
      </p:pic>
      <p:sp>
        <p:nvSpPr>
          <p:cNvPr id="7" name="Text 4"/>
          <p:cNvSpPr txBox="1"/>
          <p:nvPr/>
        </p:nvSpPr>
        <p:spPr>
          <a:xfrm>
            <a:off x="914400" y="3840480"/>
            <a:ext cx="1965960" cy="411480"/>
          </a:xfrm>
          <a:prstGeom prst="rect">
            <a:avLst/>
          </a:prstGeom>
          <a:noFill/>
          <a:ln/>
        </p:spPr>
        <p:txBody>
          <a:bodyPr wrap="square" lIns="0" tIns="0" rIns="0" bIns="0" rtlCol="0" anchor="t"/>
          <a:lstStyle/>
          <a:p>
            <a:pPr indent="0" marL="0">
              <a:buNone/>
            </a:pPr>
            <a:r>
              <a:rPr lang="en-US" sz="2200" b="1" dirty="0">
                <a:solidFill>
                  <a:schemeClr val="tx2"/>
                </a:solidFill>
              </a:rPr>
              <a:t>1  Describe</a:t>
            </a:r>
            <a:endParaRPr lang="en-US" sz="2200" dirty="0"/>
          </a:p>
        </p:txBody>
      </p:sp>
      <p:sp>
        <p:nvSpPr>
          <p:cNvPr id="8" name="Text 5"/>
          <p:cNvSpPr txBox="1"/>
          <p:nvPr/>
        </p:nvSpPr>
        <p:spPr>
          <a:xfrm>
            <a:off x="914400" y="4343400"/>
            <a:ext cx="1965960" cy="1097280"/>
          </a:xfrm>
          <a:prstGeom prst="rect">
            <a:avLst/>
          </a:prstGeom>
          <a:noFill/>
          <a:ln/>
        </p:spPr>
        <p:txBody>
          <a:bodyPr wrap="square" lIns="0" tIns="0" rIns="0" bIns="0" rtlCol="0" anchor="t"/>
          <a:lstStyle/>
          <a:p>
            <a:pPr indent="0" marL="0">
              <a:buNone/>
            </a:pPr>
            <a:r>
              <a:rPr lang="en-US" sz="1600" dirty="0">
                <a:solidFill>
                  <a:schemeClr val="tx1"/>
                </a:solidFill>
              </a:rPr>
              <a:t>Type or speak the need and the suppliers, in plain language.</a:t>
            </a:r>
            <a:endParaRPr lang="en-US" sz="1600" dirty="0"/>
          </a:p>
        </p:txBody>
      </p:sp>
      <p:sp>
        <p:nvSpPr>
          <p:cNvPr id="9" name="Shape 6"/>
          <p:cNvSpPr/>
          <p:nvPr/>
        </p:nvSpPr>
        <p:spPr>
          <a:xfrm>
            <a:off x="3429000" y="2606040"/>
            <a:ext cx="2514600" cy="3154680"/>
          </a:xfrm>
          <a:prstGeom prst="roundRect">
            <a:avLst>
              <a:gd name="adj" fmla="val 4364"/>
            </a:avLst>
          </a:prstGeom>
          <a:solidFill>
            <a:schemeClr val="bg2"/>
          </a:solidFill>
          <a:ln/>
        </p:spPr>
      </p:sp>
      <p:sp>
        <p:nvSpPr>
          <p:cNvPr id="10" name="dot-FiCheckSquare"/>
          <p:cNvSpPr/>
          <p:nvPr/>
        </p:nvSpPr>
        <p:spPr>
          <a:xfrm>
            <a:off x="3703320" y="2880360"/>
            <a:ext cx="731520" cy="731520"/>
          </a:xfrm>
          <a:prstGeom prst="ellipse">
            <a:avLst/>
          </a:prstGeom>
          <a:solidFill>
            <a:schemeClr val="accent1"/>
          </a:solidFill>
          <a:ln/>
        </p:spPr>
      </p:sp>
      <p:pic>
        <p:nvPicPr>
          <p:cNvPr id="11" name="Image 1" descr="FiCheckSquare">    </p:cNvPr>
          <p:cNvPicPr>
            <a:picLocks noChangeAspect="1"/>
          </p:cNvPicPr>
          <p:nvPr/>
        </p:nvPicPr>
        <p:blipFill>
          <a:blip r:embed="rId2"/>
          <a:stretch>
            <a:fillRect/>
          </a:stretch>
        </p:blipFill>
        <p:spPr>
          <a:xfrm>
            <a:off x="3864254" y="3041294"/>
            <a:ext cx="409651" cy="409651"/>
          </a:xfrm>
          <a:prstGeom prst="rect">
            <a:avLst/>
          </a:prstGeom>
        </p:spPr>
      </p:pic>
      <p:sp>
        <p:nvSpPr>
          <p:cNvPr id="12" name="Text 8"/>
          <p:cNvSpPr txBox="1"/>
          <p:nvPr/>
        </p:nvSpPr>
        <p:spPr>
          <a:xfrm>
            <a:off x="3703320" y="3840480"/>
            <a:ext cx="1965960" cy="411480"/>
          </a:xfrm>
          <a:prstGeom prst="rect">
            <a:avLst/>
          </a:prstGeom>
          <a:noFill/>
          <a:ln/>
        </p:spPr>
        <p:txBody>
          <a:bodyPr wrap="square" lIns="0" tIns="0" rIns="0" bIns="0" rtlCol="0" anchor="t"/>
          <a:lstStyle/>
          <a:p>
            <a:pPr indent="0" marL="0">
              <a:buNone/>
            </a:pPr>
            <a:r>
              <a:rPr lang="en-US" sz="2200" b="1" dirty="0">
                <a:solidFill>
                  <a:schemeClr val="tx2"/>
                </a:solidFill>
              </a:rPr>
              <a:t>2  Confirm</a:t>
            </a:r>
            <a:endParaRPr lang="en-US" sz="2200" dirty="0"/>
          </a:p>
        </p:txBody>
      </p:sp>
      <p:sp>
        <p:nvSpPr>
          <p:cNvPr id="13" name="Text 9"/>
          <p:cNvSpPr txBox="1"/>
          <p:nvPr/>
        </p:nvSpPr>
        <p:spPr>
          <a:xfrm>
            <a:off x="3703320" y="4343400"/>
            <a:ext cx="1965960" cy="1097280"/>
          </a:xfrm>
          <a:prstGeom prst="rect">
            <a:avLst/>
          </a:prstGeom>
          <a:noFill/>
          <a:ln/>
        </p:spPr>
        <p:txBody>
          <a:bodyPr wrap="square" lIns="0" tIns="0" rIns="0" bIns="0" rtlCol="0" anchor="t"/>
          <a:lstStyle/>
          <a:p>
            <a:pPr indent="0" marL="0">
              <a:buNone/>
            </a:pPr>
            <a:r>
              <a:rPr lang="en-US" sz="1600" dirty="0">
                <a:solidFill>
                  <a:schemeClr val="tx1"/>
                </a:solidFill>
              </a:rPr>
              <a:t>Check what the agent understood, then confirm the requirements and the checks.</a:t>
            </a:r>
            <a:endParaRPr lang="en-US" sz="1600" dirty="0"/>
          </a:p>
        </p:txBody>
      </p:sp>
      <p:sp>
        <p:nvSpPr>
          <p:cNvPr id="14" name="Shape 10"/>
          <p:cNvSpPr/>
          <p:nvPr/>
        </p:nvSpPr>
        <p:spPr>
          <a:xfrm>
            <a:off x="6217920" y="2606040"/>
            <a:ext cx="2514600" cy="3154680"/>
          </a:xfrm>
          <a:prstGeom prst="roundRect">
            <a:avLst>
              <a:gd name="adj" fmla="val 4364"/>
            </a:avLst>
          </a:prstGeom>
          <a:solidFill>
            <a:schemeClr val="bg2"/>
          </a:solidFill>
          <a:ln/>
        </p:spPr>
      </p:sp>
      <p:sp>
        <p:nvSpPr>
          <p:cNvPr id="15" name="dot-FiDatabase"/>
          <p:cNvSpPr/>
          <p:nvPr/>
        </p:nvSpPr>
        <p:spPr>
          <a:xfrm>
            <a:off x="6492240" y="2880360"/>
            <a:ext cx="731520" cy="731520"/>
          </a:xfrm>
          <a:prstGeom prst="ellipse">
            <a:avLst/>
          </a:prstGeom>
          <a:solidFill>
            <a:schemeClr val="accent1"/>
          </a:solidFill>
          <a:ln/>
        </p:spPr>
      </p:sp>
      <p:pic>
        <p:nvPicPr>
          <p:cNvPr id="16" name="Image 2" descr="FiDatabase">    </p:cNvPr>
          <p:cNvPicPr>
            <a:picLocks noChangeAspect="1"/>
          </p:cNvPicPr>
          <p:nvPr/>
        </p:nvPicPr>
        <p:blipFill>
          <a:blip r:embed="rId3"/>
          <a:stretch>
            <a:fillRect/>
          </a:stretch>
        </p:blipFill>
        <p:spPr>
          <a:xfrm>
            <a:off x="6653174" y="3041294"/>
            <a:ext cx="409651" cy="409651"/>
          </a:xfrm>
          <a:prstGeom prst="rect">
            <a:avLst/>
          </a:prstGeom>
        </p:spPr>
      </p:pic>
      <p:sp>
        <p:nvSpPr>
          <p:cNvPr id="17" name="Text 12"/>
          <p:cNvSpPr txBox="1"/>
          <p:nvPr/>
        </p:nvSpPr>
        <p:spPr>
          <a:xfrm>
            <a:off x="6492240" y="3840480"/>
            <a:ext cx="1965960" cy="411480"/>
          </a:xfrm>
          <a:prstGeom prst="rect">
            <a:avLst/>
          </a:prstGeom>
          <a:noFill/>
          <a:ln/>
        </p:spPr>
        <p:txBody>
          <a:bodyPr wrap="square" lIns="0" tIns="0" rIns="0" bIns="0" rtlCol="0" anchor="t"/>
          <a:lstStyle/>
          <a:p>
            <a:pPr indent="0" marL="0">
              <a:buNone/>
            </a:pPr>
            <a:r>
              <a:rPr lang="en-US" sz="2200" b="1" dirty="0">
                <a:solidFill>
                  <a:schemeClr val="tx2"/>
                </a:solidFill>
              </a:rPr>
              <a:t>3  Collect</a:t>
            </a:r>
            <a:endParaRPr lang="en-US" sz="2200" dirty="0"/>
          </a:p>
        </p:txBody>
      </p:sp>
      <p:sp>
        <p:nvSpPr>
          <p:cNvPr id="18" name="Text 13"/>
          <p:cNvSpPr txBox="1"/>
          <p:nvPr/>
        </p:nvSpPr>
        <p:spPr>
          <a:xfrm>
            <a:off x="6492240" y="4343400"/>
            <a:ext cx="1965960" cy="1097280"/>
          </a:xfrm>
          <a:prstGeom prst="rect">
            <a:avLst/>
          </a:prstGeom>
          <a:noFill/>
          <a:ln/>
        </p:spPr>
        <p:txBody>
          <a:bodyPr wrap="square" lIns="0" tIns="0" rIns="0" bIns="0" rtlCol="0" anchor="t"/>
          <a:lstStyle/>
          <a:p>
            <a:pPr indent="0" marL="0">
              <a:buNone/>
            </a:pPr>
            <a:r>
              <a:rPr lang="en-US" sz="1600" dirty="0">
                <a:solidFill>
                  <a:schemeClr val="tx1"/>
                </a:solidFill>
              </a:rPr>
              <a:t>Evidence arrives from public pages and official lists while you watch.</a:t>
            </a:r>
            <a:endParaRPr lang="en-US" sz="1600" dirty="0"/>
          </a:p>
        </p:txBody>
      </p:sp>
      <p:sp>
        <p:nvSpPr>
          <p:cNvPr id="19" name="Shape 14"/>
          <p:cNvSpPr/>
          <p:nvPr/>
        </p:nvSpPr>
        <p:spPr>
          <a:xfrm>
            <a:off x="9006840" y="2606040"/>
            <a:ext cx="2514600" cy="3154680"/>
          </a:xfrm>
          <a:prstGeom prst="roundRect">
            <a:avLst>
              <a:gd name="adj" fmla="val 4364"/>
            </a:avLst>
          </a:prstGeom>
          <a:solidFill>
            <a:schemeClr val="bg2"/>
          </a:solidFill>
          <a:ln/>
        </p:spPr>
      </p:sp>
      <p:sp>
        <p:nvSpPr>
          <p:cNvPr id="20" name="dot-FiFileText"/>
          <p:cNvSpPr/>
          <p:nvPr/>
        </p:nvSpPr>
        <p:spPr>
          <a:xfrm>
            <a:off x="9281160" y="2880360"/>
            <a:ext cx="731520" cy="731520"/>
          </a:xfrm>
          <a:prstGeom prst="ellipse">
            <a:avLst/>
          </a:prstGeom>
          <a:solidFill>
            <a:schemeClr val="accent1"/>
          </a:solidFill>
          <a:ln/>
        </p:spPr>
      </p:sp>
      <p:pic>
        <p:nvPicPr>
          <p:cNvPr id="21" name="Image 3" descr="FiFileText">    </p:cNvPr>
          <p:cNvPicPr>
            <a:picLocks noChangeAspect="1"/>
          </p:cNvPicPr>
          <p:nvPr/>
        </p:nvPicPr>
        <p:blipFill>
          <a:blip r:embed="rId4"/>
          <a:stretch>
            <a:fillRect/>
          </a:stretch>
        </p:blipFill>
        <p:spPr>
          <a:xfrm>
            <a:off x="9442094" y="3041294"/>
            <a:ext cx="409651" cy="409651"/>
          </a:xfrm>
          <a:prstGeom prst="rect">
            <a:avLst/>
          </a:prstGeom>
        </p:spPr>
      </p:pic>
      <p:sp>
        <p:nvSpPr>
          <p:cNvPr id="22" name="Text 16"/>
          <p:cNvSpPr txBox="1"/>
          <p:nvPr/>
        </p:nvSpPr>
        <p:spPr>
          <a:xfrm>
            <a:off x="9281160" y="3840480"/>
            <a:ext cx="1965960" cy="411480"/>
          </a:xfrm>
          <a:prstGeom prst="rect">
            <a:avLst/>
          </a:prstGeom>
          <a:noFill/>
          <a:ln/>
        </p:spPr>
        <p:txBody>
          <a:bodyPr wrap="square" lIns="0" tIns="0" rIns="0" bIns="0" rtlCol="0" anchor="t"/>
          <a:lstStyle/>
          <a:p>
            <a:pPr indent="0" marL="0">
              <a:buNone/>
            </a:pPr>
            <a:r>
              <a:rPr lang="en-US" sz="2200" b="1" dirty="0">
                <a:solidFill>
                  <a:schemeClr val="tx2"/>
                </a:solidFill>
              </a:rPr>
              <a:t>4  Review</a:t>
            </a:r>
            <a:endParaRPr lang="en-US" sz="2200" dirty="0"/>
          </a:p>
        </p:txBody>
      </p:sp>
      <p:sp>
        <p:nvSpPr>
          <p:cNvPr id="23" name="Text 17"/>
          <p:cNvSpPr txBox="1"/>
          <p:nvPr/>
        </p:nvSpPr>
        <p:spPr>
          <a:xfrm>
            <a:off x="9281160" y="4343400"/>
            <a:ext cx="1965960" cy="1097280"/>
          </a:xfrm>
          <a:prstGeom prst="rect">
            <a:avLst/>
          </a:prstGeom>
          <a:noFill/>
          <a:ln/>
        </p:spPr>
        <p:txBody>
          <a:bodyPr wrap="square" lIns="0" tIns="0" rIns="0" bIns="0" rtlCol="0" anchor="t"/>
          <a:lstStyle/>
          <a:p>
            <a:pPr indent="0" marL="0">
              <a:buNone/>
            </a:pPr>
            <a:r>
              <a:rPr lang="en-US" sz="1600" dirty="0">
                <a:solidFill>
                  <a:schemeClr val="tx1"/>
                </a:solidFill>
              </a:rPr>
              <a:t>Read the verdicts, open the evidence, record your decision, export a PDF.</a:t>
            </a:r>
            <a:endParaRPr lang="en-US" sz="1600" dirty="0"/>
          </a:p>
        </p:txBody>
      </p:sp>
      <p:sp>
        <p:nvSpPr>
          <p:cNvPr id="24" name="Text 18"/>
          <p:cNvSpPr txBox="1"/>
          <p:nvPr/>
        </p:nvSpPr>
        <p:spPr>
          <a:xfrm>
            <a:off x="640080" y="5943600"/>
            <a:ext cx="10058400" cy="365760"/>
          </a:xfrm>
          <a:prstGeom prst="rect">
            <a:avLst/>
          </a:prstGeom>
          <a:noFill/>
          <a:ln/>
        </p:spPr>
        <p:txBody>
          <a:bodyPr wrap="square" lIns="0" tIns="0" rIns="0" bIns="0" rtlCol="0" anchor="t"/>
          <a:lstStyle/>
          <a:p>
            <a:pPr indent="0" marL="0">
              <a:buNone/>
            </a:pPr>
            <a:r>
              <a:rPr lang="en-US" sz="1600" b="1" dirty="0">
                <a:solidFill>
                  <a:schemeClr val="accent1"/>
                </a:solidFill>
              </a:rPr>
              <a:t>India only. The system never contacts a supplier.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Start by chatting, in your own words</a:t>
            </a:r>
            <a:endParaRPr lang="en-US" sz="3400" dirty="0"/>
          </a:p>
        </p:txBody>
      </p:sp>
      <p:sp>
        <p:nvSpPr>
          <p:cNvPr id="3" name="Text 1"/>
          <p:cNvSpPr txBox="1"/>
          <p:nvPr/>
        </p:nvSpPr>
        <p:spPr>
          <a:xfrm>
            <a:off x="640080" y="1463040"/>
            <a:ext cx="402336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THE CASE WE WILL RUN</a:t>
            </a:r>
            <a:endParaRPr lang="en-US" sz="1300" dirty="0"/>
          </a:p>
        </p:txBody>
      </p:sp>
      <p:sp>
        <p:nvSpPr>
          <p:cNvPr id="4" name="Text 2"/>
          <p:cNvSpPr txBox="1"/>
          <p:nvPr/>
        </p:nvSpPr>
        <p:spPr>
          <a:xfrm>
            <a:off x="640080" y="1828800"/>
            <a:ext cx="4023360" cy="1188720"/>
          </a:xfrm>
          <a:prstGeom prst="rect">
            <a:avLst/>
          </a:prstGeom>
          <a:noFill/>
          <a:ln/>
        </p:spPr>
        <p:txBody>
          <a:bodyPr wrap="square" lIns="0" tIns="0" rIns="0" bIns="0" rtlCol="0" anchor="t"/>
          <a:lstStyle/>
          <a:p>
            <a:pPr indent="0" marL="0">
              <a:buNone/>
            </a:pPr>
            <a:r>
              <a:rPr lang="en-US" sz="2000" b="1" dirty="0">
                <a:solidFill>
                  <a:schemeClr val="tx2"/>
                </a:solidFill>
              </a:rPr>
              <a:t>A hospital group audits the FFP2 respirators it bought during the 2020 emergency.</a:t>
            </a:r>
            <a:endParaRPr lang="en-US" sz="2000" dirty="0"/>
          </a:p>
        </p:txBody>
      </p:sp>
      <p:sp>
        <p:nvSpPr>
          <p:cNvPr id="5" name="Text 3"/>
          <p:cNvSpPr txBox="1"/>
          <p:nvPr/>
        </p:nvSpPr>
        <p:spPr>
          <a:xfrm>
            <a:off x="640080" y="3108960"/>
            <a:ext cx="4023360" cy="1371600"/>
          </a:xfrm>
          <a:prstGeom prst="rect">
            <a:avLst/>
          </a:prstGeom>
          <a:noFill/>
          <a:ln/>
        </p:spPr>
        <p:txBody>
          <a:bodyPr wrap="square" lIns="0" tIns="0" rIns="0" bIns="0" rtlCol="0" anchor="t"/>
          <a:lstStyle/>
          <a:p>
            <a:pPr indent="0" marL="0">
              <a:buNone/>
            </a:pPr>
            <a:r>
              <a:rPr lang="en-US" sz="1600" dirty="0">
                <a:solidFill>
                  <a:schemeClr val="tx1"/>
                </a:solidFill>
              </a:rPr>
              <a:t>For each of four suppliers: did they hold a BIS licence for IS 9473:2002 on 27 August 2020, and do they make the masks themselves?</a:t>
            </a:r>
            <a:endParaRPr lang="en-US" sz="1600" dirty="0"/>
          </a:p>
        </p:txBody>
      </p:sp>
      <p:sp>
        <p:nvSpPr>
          <p:cNvPr id="6" name="Text 4"/>
          <p:cNvSpPr txBox="1"/>
          <p:nvPr/>
        </p:nvSpPr>
        <p:spPr>
          <a:xfrm>
            <a:off x="640080" y="4572000"/>
            <a:ext cx="4023360" cy="1280160"/>
          </a:xfrm>
          <a:prstGeom prst="rect">
            <a:avLst/>
          </a:prstGeom>
          <a:noFill/>
          <a:ln/>
        </p:spPr>
        <p:txBody>
          <a:bodyPr wrap="square" lIns="0" tIns="0" rIns="0" bIns="0" rtlCol="0" anchor="t"/>
          <a:lstStyle/>
          <a:p>
            <a:pPr indent="0" marL="0">
              <a:buNone/>
            </a:pPr>
            <a:r>
              <a:rPr lang="en-US" sz="1600" dirty="0">
                <a:solidFill>
                  <a:schemeClr val="accent5"/>
                </a:solidFill>
              </a:rPr>
              <a:t>The agent fills in what it can read from the message and shows it back for correction. It asks only when in doubt.</a:t>
            </a:r>
            <a:endParaRPr lang="en-US" sz="1600" dirty="0"/>
          </a:p>
        </p:txBody>
      </p:sp>
      <p:sp>
        <p:nvSpPr>
          <p:cNvPr id="7" name="Shape 5"/>
          <p:cNvSpPr/>
          <p:nvPr/>
        </p:nvSpPr>
        <p:spPr>
          <a:xfrm>
            <a:off x="5038344" y="1472184"/>
            <a:ext cx="6565392" cy="4818888"/>
          </a:xfrm>
          <a:prstGeom prst="rect">
            <a:avLst/>
          </a:prstGeom>
          <a:solidFill>
            <a:schemeClr val="bg1"/>
          </a:solidFill>
          <a:ln w="12700">
            <a:solidFill>
              <a:schemeClr val="accent6"/>
            </a:solidFill>
            <a:prstDash val="solid"/>
          </a:ln>
          <a:effectLst>
            <a:outerShdw sx="100000" sy="100000" kx="0" ky="0" algn="bl" rotWithShape="0" blurRad="127000" dist="38100" dir="5400000">
              <a:srgbClr val="000000">
                <a:alpha val="18000"/>
              </a:srgbClr>
            </a:outerShdw>
          </a:effectLst>
        </p:spPr>
      </p:sp>
      <p:pic>
        <p:nvPicPr>
          <p:cNvPr id="8" name="Image 0" descr="VeriSource screenshot">    </p:cNvPr>
          <p:cNvPicPr>
            <a:picLocks noChangeAspect="1"/>
          </p:cNvPicPr>
          <p:nvPr/>
        </p:nvPicPr>
        <p:blipFill>
          <a:blip r:embed="rId1"/>
          <a:stretch>
            <a:fillRect/>
          </a:stretch>
        </p:blipFill>
        <p:spPr>
          <a:xfrm>
            <a:off x="5074920" y="1508760"/>
            <a:ext cx="6492240" cy="4745736"/>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The buyer holds every gate</a:t>
            </a:r>
            <a:endParaRPr lang="en-US" sz="3400" dirty="0"/>
          </a:p>
        </p:txBody>
      </p:sp>
      <p:sp>
        <p:nvSpPr>
          <p:cNvPr id="3" name="Shape 1"/>
          <p:cNvSpPr/>
          <p:nvPr/>
        </p:nvSpPr>
        <p:spPr>
          <a:xfrm>
            <a:off x="603504" y="1472184"/>
            <a:ext cx="6565392" cy="4818888"/>
          </a:xfrm>
          <a:prstGeom prst="rect">
            <a:avLst/>
          </a:prstGeom>
          <a:solidFill>
            <a:schemeClr val="bg1"/>
          </a:solidFill>
          <a:ln w="12700">
            <a:solidFill>
              <a:schemeClr val="accent6"/>
            </a:solidFill>
            <a:prstDash val="solid"/>
          </a:ln>
          <a:effectLst>
            <a:outerShdw sx="100000" sy="100000" kx="0" ky="0" algn="bl" rotWithShape="0" blurRad="127000" dist="38100" dir="5400000">
              <a:srgbClr val="000000">
                <a:alpha val="18000"/>
              </a:srgbClr>
            </a:outerShdw>
          </a:effectLst>
        </p:spPr>
      </p:sp>
      <p:pic>
        <p:nvPicPr>
          <p:cNvPr id="4" name="Image 0" descr="VeriSource screenshot">    </p:cNvPr>
          <p:cNvPicPr>
            <a:picLocks noChangeAspect="1"/>
          </p:cNvPicPr>
          <p:nvPr/>
        </p:nvPicPr>
        <p:blipFill>
          <a:blip r:embed="rId1"/>
          <a:stretch>
            <a:fillRect/>
          </a:stretch>
        </p:blipFill>
        <p:spPr>
          <a:xfrm>
            <a:off x="640080" y="1508760"/>
            <a:ext cx="6492240" cy="4745736"/>
          </a:xfrm>
          <a:prstGeom prst="rect">
            <a:avLst/>
          </a:prstGeom>
        </p:spPr>
      </p:pic>
      <p:sp>
        <p:nvSpPr>
          <p:cNvPr id="5" name="Shape 2"/>
          <p:cNvSpPr/>
          <p:nvPr/>
        </p:nvSpPr>
        <p:spPr>
          <a:xfrm>
            <a:off x="7589520" y="1508760"/>
            <a:ext cx="548640" cy="548640"/>
          </a:xfrm>
          <a:prstGeom prst="ellipse">
            <a:avLst/>
          </a:prstGeom>
          <a:solidFill>
            <a:schemeClr val="accent1"/>
          </a:solidFill>
          <a:ln/>
        </p:spPr>
      </p:sp>
      <p:sp>
        <p:nvSpPr>
          <p:cNvPr id="6" name="Text 3"/>
          <p:cNvSpPr txBox="1"/>
          <p:nvPr/>
        </p:nvSpPr>
        <p:spPr>
          <a:xfrm>
            <a:off x="758952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8321040" y="1481328"/>
            <a:ext cx="3291840" cy="365760"/>
          </a:xfrm>
          <a:prstGeom prst="rect">
            <a:avLst/>
          </a:prstGeom>
          <a:noFill/>
          <a:ln/>
        </p:spPr>
        <p:txBody>
          <a:bodyPr wrap="square" lIns="0" tIns="0" rIns="0" bIns="0" rtlCol="0" anchor="t"/>
          <a:lstStyle/>
          <a:p>
            <a:pPr indent="0" marL="0">
              <a:buNone/>
            </a:pPr>
            <a:r>
              <a:rPr lang="en-US" sz="2000" b="1" dirty="0">
                <a:solidFill>
                  <a:schemeClr val="tx2"/>
                </a:solidFill>
              </a:rPr>
              <a:t>Confirm requirements</a:t>
            </a:r>
            <a:endParaRPr lang="en-US" sz="2000" dirty="0"/>
          </a:p>
        </p:txBody>
      </p:sp>
      <p:sp>
        <p:nvSpPr>
          <p:cNvPr id="8" name="Text 5"/>
          <p:cNvSpPr txBox="1"/>
          <p:nvPr/>
        </p:nvSpPr>
        <p:spPr>
          <a:xfrm>
            <a:off x="8321040" y="1874520"/>
            <a:ext cx="3291840" cy="548640"/>
          </a:xfrm>
          <a:prstGeom prst="rect">
            <a:avLst/>
          </a:prstGeom>
          <a:noFill/>
          <a:ln/>
        </p:spPr>
        <p:txBody>
          <a:bodyPr wrap="square" lIns="0" tIns="0" rIns="0" bIns="0" rtlCol="0" anchor="t"/>
          <a:lstStyle/>
          <a:p>
            <a:pPr indent="0" marL="0">
              <a:buNone/>
            </a:pPr>
            <a:r>
              <a:rPr lang="en-US" sz="1500" dirty="0">
                <a:solidFill>
                  <a:schemeClr val="accent5"/>
                </a:solidFill>
              </a:rPr>
              <a:t>Correct anything the agent read wrongly.</a:t>
            </a:r>
            <a:endParaRPr lang="en-US" sz="1500" dirty="0"/>
          </a:p>
        </p:txBody>
      </p:sp>
      <p:sp>
        <p:nvSpPr>
          <p:cNvPr id="9" name="Shape 6"/>
          <p:cNvSpPr/>
          <p:nvPr/>
        </p:nvSpPr>
        <p:spPr>
          <a:xfrm>
            <a:off x="7589520" y="2560320"/>
            <a:ext cx="548640" cy="548640"/>
          </a:xfrm>
          <a:prstGeom prst="ellipse">
            <a:avLst/>
          </a:prstGeom>
          <a:solidFill>
            <a:schemeClr val="accent1"/>
          </a:solidFill>
          <a:ln/>
        </p:spPr>
      </p:sp>
      <p:sp>
        <p:nvSpPr>
          <p:cNvPr id="10" name="Text 7"/>
          <p:cNvSpPr txBox="1"/>
          <p:nvPr/>
        </p:nvSpPr>
        <p:spPr>
          <a:xfrm>
            <a:off x="7589520" y="2560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8321040" y="2532888"/>
            <a:ext cx="3291840" cy="365760"/>
          </a:xfrm>
          <a:prstGeom prst="rect">
            <a:avLst/>
          </a:prstGeom>
          <a:noFill/>
          <a:ln/>
        </p:spPr>
        <p:txBody>
          <a:bodyPr wrap="square" lIns="0" tIns="0" rIns="0" bIns="0" rtlCol="0" anchor="t"/>
          <a:lstStyle/>
          <a:p>
            <a:pPr indent="0" marL="0">
              <a:buNone/>
            </a:pPr>
            <a:r>
              <a:rPr lang="en-US" sz="2000" b="1" dirty="0">
                <a:solidFill>
                  <a:schemeClr val="tx2"/>
                </a:solidFill>
              </a:rPr>
              <a:t>Confirm checks</a:t>
            </a:r>
            <a:endParaRPr lang="en-US" sz="2000" dirty="0"/>
          </a:p>
        </p:txBody>
      </p:sp>
      <p:sp>
        <p:nvSpPr>
          <p:cNvPr id="12" name="Text 9"/>
          <p:cNvSpPr txBox="1"/>
          <p:nvPr/>
        </p:nvSpPr>
        <p:spPr>
          <a:xfrm>
            <a:off x="8321040" y="2926080"/>
            <a:ext cx="3291840" cy="548640"/>
          </a:xfrm>
          <a:prstGeom prst="rect">
            <a:avLst/>
          </a:prstGeom>
          <a:noFill/>
          <a:ln/>
        </p:spPr>
        <p:txBody>
          <a:bodyPr wrap="square" lIns="0" tIns="0" rIns="0" bIns="0" rtlCol="0" anchor="t"/>
          <a:lstStyle/>
          <a:p>
            <a:pPr indent="0" marL="0">
              <a:buNone/>
            </a:pPr>
            <a:r>
              <a:rPr lang="en-US" sz="1500" dirty="0">
                <a:solidFill>
                  <a:schemeClr val="accent5"/>
                </a:solidFill>
              </a:rPr>
              <a:t>Tick what a supplier must pass to qualify.</a:t>
            </a:r>
            <a:endParaRPr lang="en-US" sz="1500" dirty="0"/>
          </a:p>
        </p:txBody>
      </p:sp>
      <p:sp>
        <p:nvSpPr>
          <p:cNvPr id="13" name="Shape 10"/>
          <p:cNvSpPr/>
          <p:nvPr/>
        </p:nvSpPr>
        <p:spPr>
          <a:xfrm>
            <a:off x="7589520" y="3611880"/>
            <a:ext cx="548640" cy="548640"/>
          </a:xfrm>
          <a:prstGeom prst="ellipse">
            <a:avLst/>
          </a:prstGeom>
          <a:solidFill>
            <a:schemeClr val="accent1"/>
          </a:solidFill>
          <a:ln/>
        </p:spPr>
      </p:sp>
      <p:sp>
        <p:nvSpPr>
          <p:cNvPr id="14" name="Text 11"/>
          <p:cNvSpPr txBox="1"/>
          <p:nvPr/>
        </p:nvSpPr>
        <p:spPr>
          <a:xfrm>
            <a:off x="7589520" y="3611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8321040" y="3584448"/>
            <a:ext cx="3291840" cy="365760"/>
          </a:xfrm>
          <a:prstGeom prst="rect">
            <a:avLst/>
          </a:prstGeom>
          <a:noFill/>
          <a:ln/>
        </p:spPr>
        <p:txBody>
          <a:bodyPr wrap="square" lIns="0" tIns="0" rIns="0" bIns="0" rtlCol="0" anchor="t"/>
          <a:lstStyle/>
          <a:p>
            <a:pPr indent="0" marL="0">
              <a:buNone/>
            </a:pPr>
            <a:r>
              <a:rPr lang="en-US" sz="2000" b="1" dirty="0">
                <a:solidFill>
                  <a:schemeClr val="tx2"/>
                </a:solidFill>
              </a:rPr>
              <a:t>Start verification</a:t>
            </a:r>
            <a:endParaRPr lang="en-US" sz="2000" dirty="0"/>
          </a:p>
        </p:txBody>
      </p:sp>
      <p:sp>
        <p:nvSpPr>
          <p:cNvPr id="16" name="Text 13"/>
          <p:cNvSpPr txBox="1"/>
          <p:nvPr/>
        </p:nvSpPr>
        <p:spPr>
          <a:xfrm>
            <a:off x="8321040" y="3977640"/>
            <a:ext cx="3291840" cy="548640"/>
          </a:xfrm>
          <a:prstGeom prst="rect">
            <a:avLst/>
          </a:prstGeom>
          <a:noFill/>
          <a:ln/>
        </p:spPr>
        <p:txBody>
          <a:bodyPr wrap="square" lIns="0" tIns="0" rIns="0" bIns="0" rtlCol="0" anchor="t"/>
          <a:lstStyle/>
          <a:p>
            <a:pPr indent="0" marL="0">
              <a:buNone/>
            </a:pPr>
            <a:r>
              <a:rPr lang="en-US" sz="1500" dirty="0">
                <a:solidFill>
                  <a:schemeClr val="accent5"/>
                </a:solidFill>
              </a:rPr>
              <a:t>Nothing runs until the buyer says go.</a:t>
            </a:r>
            <a:endParaRPr lang="en-US" sz="1500" dirty="0"/>
          </a:p>
        </p:txBody>
      </p:sp>
      <p:sp>
        <p:nvSpPr>
          <p:cNvPr id="17" name="Shape 14"/>
          <p:cNvSpPr/>
          <p:nvPr/>
        </p:nvSpPr>
        <p:spPr>
          <a:xfrm>
            <a:off x="7589520" y="4663440"/>
            <a:ext cx="548640" cy="548640"/>
          </a:xfrm>
          <a:prstGeom prst="ellipse">
            <a:avLst/>
          </a:prstGeom>
          <a:solidFill>
            <a:schemeClr val="accent1"/>
          </a:solidFill>
          <a:ln/>
        </p:spPr>
      </p:sp>
      <p:sp>
        <p:nvSpPr>
          <p:cNvPr id="18" name="Text 15"/>
          <p:cNvSpPr txBox="1"/>
          <p:nvPr/>
        </p:nvSpPr>
        <p:spPr>
          <a:xfrm>
            <a:off x="7589520" y="4663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6"/>
          <p:cNvSpPr txBox="1"/>
          <p:nvPr/>
        </p:nvSpPr>
        <p:spPr>
          <a:xfrm>
            <a:off x="8321040" y="4636008"/>
            <a:ext cx="3291840" cy="365760"/>
          </a:xfrm>
          <a:prstGeom prst="rect">
            <a:avLst/>
          </a:prstGeom>
          <a:noFill/>
          <a:ln/>
        </p:spPr>
        <p:txBody>
          <a:bodyPr wrap="square" lIns="0" tIns="0" rIns="0" bIns="0" rtlCol="0" anchor="t"/>
          <a:lstStyle/>
          <a:p>
            <a:pPr indent="0" marL="0">
              <a:buNone/>
            </a:pPr>
            <a:r>
              <a:rPr lang="en-US" sz="2000" b="1" dirty="0">
                <a:solidFill>
                  <a:schemeClr val="tx2"/>
                </a:solidFill>
              </a:rPr>
              <a:t>Record a decision</a:t>
            </a:r>
            <a:endParaRPr lang="en-US" sz="2000" dirty="0"/>
          </a:p>
        </p:txBody>
      </p:sp>
      <p:sp>
        <p:nvSpPr>
          <p:cNvPr id="20" name="Text 17"/>
          <p:cNvSpPr txBox="1"/>
          <p:nvPr/>
        </p:nvSpPr>
        <p:spPr>
          <a:xfrm>
            <a:off x="8321040" y="5029200"/>
            <a:ext cx="3291840" cy="548640"/>
          </a:xfrm>
          <a:prstGeom prst="rect">
            <a:avLst/>
          </a:prstGeom>
          <a:noFill/>
          <a:ln/>
        </p:spPr>
        <p:txBody>
          <a:bodyPr wrap="square" lIns="0" tIns="0" rIns="0" bIns="0" rtlCol="0" anchor="t"/>
          <a:lstStyle/>
          <a:p>
            <a:pPr indent="0" marL="0">
              <a:buNone/>
            </a:pPr>
            <a:r>
              <a:rPr lang="en-US" sz="1500" dirty="0">
                <a:solidFill>
                  <a:schemeClr val="accent5"/>
                </a:solidFill>
              </a:rPr>
              <a:t>The buyer decides. The agent never does.</a:t>
            </a:r>
            <a:endParaRPr lang="en-US" sz="1500" dirty="0"/>
          </a:p>
        </p:txBody>
      </p:sp>
      <p:sp>
        <p:nvSpPr>
          <p:cNvPr id="21" name="Text 18"/>
          <p:cNvSpPr txBox="1"/>
          <p:nvPr/>
        </p:nvSpPr>
        <p:spPr>
          <a:xfrm>
            <a:off x="7589520" y="5760720"/>
            <a:ext cx="4023360" cy="365760"/>
          </a:xfrm>
          <a:prstGeom prst="rect">
            <a:avLst/>
          </a:prstGeom>
          <a:noFill/>
          <a:ln/>
        </p:spPr>
        <p:txBody>
          <a:bodyPr wrap="square" lIns="0" tIns="0" rIns="0" bIns="0" rtlCol="0" anchor="t"/>
          <a:lstStyle/>
          <a:p>
            <a:pPr indent="0" marL="0">
              <a:buNone/>
            </a:pPr>
            <a:r>
              <a:rPr lang="en-US" sz="1600" b="1" dirty="0">
                <a:solidFill>
                  <a:schemeClr val="accent1"/>
                </a:solidFill>
              </a:rPr>
              <a:t>No model output can trigger any of these.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Watch the evidence arrive</a:t>
            </a:r>
            <a:endParaRPr lang="en-US" sz="3400" dirty="0"/>
          </a:p>
        </p:txBody>
      </p:sp>
      <p:sp>
        <p:nvSpPr>
          <p:cNvPr id="3" name="Text 1"/>
          <p:cNvSpPr txBox="1"/>
          <p:nvPr/>
        </p:nvSpPr>
        <p:spPr>
          <a:xfrm>
            <a:off x="640080" y="1417320"/>
            <a:ext cx="4206240" cy="109728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257 s</a:t>
            </a:r>
            <a:endParaRPr lang="en-US" sz="6600" dirty="0"/>
          </a:p>
        </p:txBody>
      </p:sp>
      <p:sp>
        <p:nvSpPr>
          <p:cNvPr id="4" name="Text 2"/>
          <p:cNvSpPr txBox="1"/>
          <p:nvPr/>
        </p:nvSpPr>
        <p:spPr>
          <a:xfrm>
            <a:off x="640080" y="2560320"/>
            <a:ext cx="4023360" cy="822960"/>
          </a:xfrm>
          <a:prstGeom prst="rect">
            <a:avLst/>
          </a:prstGeom>
          <a:noFill/>
          <a:ln/>
        </p:spPr>
        <p:txBody>
          <a:bodyPr wrap="square" lIns="0" tIns="0" rIns="0" bIns="0" rtlCol="0" anchor="t"/>
          <a:lstStyle/>
          <a:p>
            <a:pPr indent="0" marL="0">
              <a:buNone/>
            </a:pPr>
            <a:r>
              <a:rPr lang="en-US" sz="1600" dirty="0">
                <a:solidFill>
                  <a:schemeClr val="accent5"/>
                </a:solidFill>
              </a:rPr>
              <a:t>live collection for four suppliers in a measured run (236 s for two)</a:t>
            </a:r>
            <a:endParaRPr lang="en-US" sz="1600" dirty="0"/>
          </a:p>
        </p:txBody>
      </p:sp>
      <p:sp>
        <p:nvSpPr>
          <p:cNvPr id="5" name="dot-FiLayers"/>
          <p:cNvSpPr/>
          <p:nvPr/>
        </p:nvSpPr>
        <p:spPr>
          <a:xfrm>
            <a:off x="640080" y="3520440"/>
            <a:ext cx="502920" cy="502920"/>
          </a:xfrm>
          <a:prstGeom prst="ellipse">
            <a:avLst/>
          </a:prstGeom>
          <a:solidFill>
            <a:schemeClr val="accent1"/>
          </a:solidFill>
          <a:ln/>
        </p:spPr>
      </p:sp>
      <p:pic>
        <p:nvPicPr>
          <p:cNvPr id="6" name="Image 0" descr="FiLayers">    </p:cNvPr>
          <p:cNvPicPr>
            <a:picLocks noChangeAspect="1"/>
          </p:cNvPicPr>
          <p:nvPr/>
        </p:nvPicPr>
        <p:blipFill>
          <a:blip r:embed="rId1"/>
          <a:stretch>
            <a:fillRect/>
          </a:stretch>
        </p:blipFill>
        <p:spPr>
          <a:xfrm>
            <a:off x="750722" y="3631082"/>
            <a:ext cx="281635" cy="281635"/>
          </a:xfrm>
          <a:prstGeom prst="rect">
            <a:avLst/>
          </a:prstGeom>
        </p:spPr>
      </p:pic>
      <p:sp>
        <p:nvSpPr>
          <p:cNvPr id="7" name="Text 4"/>
          <p:cNvSpPr txBox="1"/>
          <p:nvPr/>
        </p:nvSpPr>
        <p:spPr>
          <a:xfrm>
            <a:off x="1325880" y="3474720"/>
            <a:ext cx="3520440" cy="868680"/>
          </a:xfrm>
          <a:prstGeom prst="rect">
            <a:avLst/>
          </a:prstGeom>
          <a:noFill/>
          <a:ln/>
        </p:spPr>
        <p:txBody>
          <a:bodyPr wrap="square" lIns="0" tIns="0" rIns="0" bIns="0" rtlCol="0" anchor="t"/>
          <a:lstStyle/>
          <a:p>
            <a:pPr indent="0" marL="0">
              <a:buNone/>
            </a:pPr>
            <a:r>
              <a:rPr lang="en-US" sz="1500" dirty="0">
                <a:solidFill>
                  <a:schemeClr val="tx1"/>
                </a:solidFill>
              </a:rPr>
              <a:t>Every supplier gets its own checks: the official licence export, the supplier website and BIS order applicability.</a:t>
            </a:r>
            <a:endParaRPr lang="en-US" sz="1500" dirty="0"/>
          </a:p>
        </p:txBody>
      </p:sp>
      <p:sp>
        <p:nvSpPr>
          <p:cNvPr id="8" name="dot-FiClock"/>
          <p:cNvSpPr/>
          <p:nvPr/>
        </p:nvSpPr>
        <p:spPr>
          <a:xfrm>
            <a:off x="640080" y="4434840"/>
            <a:ext cx="502920" cy="502920"/>
          </a:xfrm>
          <a:prstGeom prst="ellipse">
            <a:avLst/>
          </a:prstGeom>
          <a:solidFill>
            <a:schemeClr val="accent1"/>
          </a:solidFill>
          <a:ln/>
        </p:spPr>
      </p:sp>
      <p:pic>
        <p:nvPicPr>
          <p:cNvPr id="9" name="Image 1" descr="FiClock">    </p:cNvPr>
          <p:cNvPicPr>
            <a:picLocks noChangeAspect="1"/>
          </p:cNvPicPr>
          <p:nvPr/>
        </p:nvPicPr>
        <p:blipFill>
          <a:blip r:embed="rId2"/>
          <a:stretch>
            <a:fillRect/>
          </a:stretch>
        </p:blipFill>
        <p:spPr>
          <a:xfrm>
            <a:off x="750722" y="4545482"/>
            <a:ext cx="281635" cy="281635"/>
          </a:xfrm>
          <a:prstGeom prst="rect">
            <a:avLst/>
          </a:prstGeom>
        </p:spPr>
      </p:pic>
      <p:sp>
        <p:nvSpPr>
          <p:cNvPr id="10" name="Text 6"/>
          <p:cNvSpPr txBox="1"/>
          <p:nvPr/>
        </p:nvSpPr>
        <p:spPr>
          <a:xfrm>
            <a:off x="1325880" y="4389120"/>
            <a:ext cx="3520440" cy="868680"/>
          </a:xfrm>
          <a:prstGeom prst="rect">
            <a:avLst/>
          </a:prstGeom>
          <a:noFill/>
          <a:ln/>
        </p:spPr>
        <p:txBody>
          <a:bodyPr wrap="square" lIns="0" tIns="0" rIns="0" bIns="0" rtlCol="0" anchor="t"/>
          <a:lstStyle/>
          <a:p>
            <a:pPr indent="0" marL="0">
              <a:buNone/>
            </a:pPr>
            <a:r>
              <a:rPr lang="en-US" sz="1500" dirty="0">
                <a:solidFill>
                  <a:schemeClr val="tx1"/>
                </a:solidFill>
              </a:rPr>
              <a:t>A background worker keeps the queue, so the work survives a closed tab or a restart.</a:t>
            </a:r>
            <a:endParaRPr lang="en-US" sz="1500" dirty="0"/>
          </a:p>
        </p:txBody>
      </p:sp>
      <p:sp>
        <p:nvSpPr>
          <p:cNvPr id="11" name="dot-FiEye"/>
          <p:cNvSpPr/>
          <p:nvPr/>
        </p:nvSpPr>
        <p:spPr>
          <a:xfrm>
            <a:off x="640080" y="5349240"/>
            <a:ext cx="502920" cy="502920"/>
          </a:xfrm>
          <a:prstGeom prst="ellipse">
            <a:avLst/>
          </a:prstGeom>
          <a:solidFill>
            <a:schemeClr val="accent1"/>
          </a:solidFill>
          <a:ln/>
        </p:spPr>
      </p:sp>
      <p:pic>
        <p:nvPicPr>
          <p:cNvPr id="12" name="Image 2" descr="FiEye">    </p:cNvPr>
          <p:cNvPicPr>
            <a:picLocks noChangeAspect="1"/>
          </p:cNvPicPr>
          <p:nvPr/>
        </p:nvPicPr>
        <p:blipFill>
          <a:blip r:embed="rId3"/>
          <a:stretch>
            <a:fillRect/>
          </a:stretch>
        </p:blipFill>
        <p:spPr>
          <a:xfrm>
            <a:off x="750722" y="5459882"/>
            <a:ext cx="281635" cy="281635"/>
          </a:xfrm>
          <a:prstGeom prst="rect">
            <a:avLst/>
          </a:prstGeom>
        </p:spPr>
      </p:pic>
      <p:sp>
        <p:nvSpPr>
          <p:cNvPr id="13" name="Text 8"/>
          <p:cNvSpPr txBox="1"/>
          <p:nvPr/>
        </p:nvSpPr>
        <p:spPr>
          <a:xfrm>
            <a:off x="1325880" y="5303520"/>
            <a:ext cx="3520440" cy="868680"/>
          </a:xfrm>
          <a:prstGeom prst="rect">
            <a:avLst/>
          </a:prstGeom>
          <a:noFill/>
          <a:ln/>
        </p:spPr>
        <p:txBody>
          <a:bodyPr wrap="square" lIns="0" tIns="0" rIns="0" bIns="0" rtlCol="0" anchor="t"/>
          <a:lstStyle/>
          <a:p>
            <a:pPr indent="0" marL="0">
              <a:buNone/>
            </a:pPr>
            <a:r>
              <a:rPr lang="en-US" sz="1500" dirty="0">
                <a:solidFill>
                  <a:schemeClr val="tx1"/>
                </a:solidFill>
              </a:rPr>
              <a:t>Progress is announced per supplier, and a log of every attempt is one click away.</a:t>
            </a:r>
            <a:endParaRPr lang="en-US" sz="1500" dirty="0"/>
          </a:p>
        </p:txBody>
      </p:sp>
      <p:sp>
        <p:nvSpPr>
          <p:cNvPr id="14" name="Shape 9"/>
          <p:cNvSpPr/>
          <p:nvPr/>
        </p:nvSpPr>
        <p:spPr>
          <a:xfrm>
            <a:off x="5038344" y="1472184"/>
            <a:ext cx="6565392" cy="4818888"/>
          </a:xfrm>
          <a:prstGeom prst="rect">
            <a:avLst/>
          </a:prstGeom>
          <a:solidFill>
            <a:schemeClr val="bg1"/>
          </a:solidFill>
          <a:ln w="12700">
            <a:solidFill>
              <a:schemeClr val="accent6"/>
            </a:solidFill>
            <a:prstDash val="solid"/>
          </a:ln>
          <a:effectLst>
            <a:outerShdw sx="100000" sy="100000" kx="0" ky="0" algn="bl" rotWithShape="0" blurRad="127000" dist="38100" dir="5400000">
              <a:srgbClr val="000000">
                <a:alpha val="18000"/>
              </a:srgbClr>
            </a:outerShdw>
          </a:effectLst>
        </p:spPr>
      </p:sp>
      <p:pic>
        <p:nvPicPr>
          <p:cNvPr id="15" name="Image 3" descr="VeriSource screenshot">    </p:cNvPr>
          <p:cNvPicPr>
            <a:picLocks noChangeAspect="1"/>
          </p:cNvPicPr>
          <p:nvPr/>
        </p:nvPicPr>
        <p:blipFill>
          <a:blip r:embed="rId4"/>
          <a:stretch>
            <a:fillRect/>
          </a:stretch>
        </p:blipFill>
        <p:spPr>
          <a:xfrm>
            <a:off x="5074920" y="1508760"/>
            <a:ext cx="6492240" cy="4745736"/>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Results the buyer can inspect</a:t>
            </a:r>
            <a:endParaRPr lang="en-US" sz="3400" dirty="0"/>
          </a:p>
        </p:txBody>
      </p:sp>
      <p:sp>
        <p:nvSpPr>
          <p:cNvPr id="3" name="Shape 1"/>
          <p:cNvSpPr/>
          <p:nvPr/>
        </p:nvSpPr>
        <p:spPr>
          <a:xfrm>
            <a:off x="640080" y="1508760"/>
            <a:ext cx="1920240" cy="1508760"/>
          </a:xfrm>
          <a:prstGeom prst="roundRect">
            <a:avLst>
              <a:gd name="adj" fmla="val 7273"/>
            </a:avLst>
          </a:prstGeom>
          <a:solidFill>
            <a:schemeClr val="bg2"/>
          </a:solidFill>
          <a:ln/>
        </p:spPr>
      </p:sp>
      <p:sp>
        <p:nvSpPr>
          <p:cNvPr id="4" name="Text 2"/>
          <p:cNvSpPr txBox="1"/>
          <p:nvPr/>
        </p:nvSpPr>
        <p:spPr>
          <a:xfrm>
            <a:off x="914400" y="1645920"/>
            <a:ext cx="137160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4</a:t>
            </a:r>
            <a:endParaRPr lang="en-US" sz="4800" dirty="0"/>
          </a:p>
        </p:txBody>
      </p:sp>
      <p:sp>
        <p:nvSpPr>
          <p:cNvPr id="5" name="Text 3"/>
          <p:cNvSpPr txBox="1"/>
          <p:nvPr/>
        </p:nvSpPr>
        <p:spPr>
          <a:xfrm>
            <a:off x="914400" y="2514600"/>
            <a:ext cx="1371600" cy="365760"/>
          </a:xfrm>
          <a:prstGeom prst="rect">
            <a:avLst/>
          </a:prstGeom>
          <a:noFill/>
          <a:ln/>
        </p:spPr>
        <p:txBody>
          <a:bodyPr wrap="square" lIns="0" tIns="0" rIns="0" bIns="0" rtlCol="0" anchor="t"/>
          <a:lstStyle/>
          <a:p>
            <a:pPr indent="0" marL="0">
              <a:buNone/>
            </a:pPr>
            <a:r>
              <a:rPr lang="en-US" sz="1600" b="1" dirty="0">
                <a:solidFill>
                  <a:schemeClr val="tx2"/>
                </a:solidFill>
              </a:rPr>
              <a:t>proven</a:t>
            </a:r>
            <a:endParaRPr lang="en-US" sz="1600" dirty="0"/>
          </a:p>
        </p:txBody>
      </p:sp>
      <p:sp>
        <p:nvSpPr>
          <p:cNvPr id="6" name="Shape 4"/>
          <p:cNvSpPr/>
          <p:nvPr/>
        </p:nvSpPr>
        <p:spPr>
          <a:xfrm>
            <a:off x="2834640" y="1508760"/>
            <a:ext cx="1920240" cy="1508760"/>
          </a:xfrm>
          <a:prstGeom prst="roundRect">
            <a:avLst>
              <a:gd name="adj" fmla="val 7273"/>
            </a:avLst>
          </a:prstGeom>
          <a:solidFill>
            <a:schemeClr val="bg2"/>
          </a:solidFill>
          <a:ln/>
        </p:spPr>
      </p:sp>
      <p:sp>
        <p:nvSpPr>
          <p:cNvPr id="7" name="Text 5"/>
          <p:cNvSpPr txBox="1"/>
          <p:nvPr/>
        </p:nvSpPr>
        <p:spPr>
          <a:xfrm>
            <a:off x="3108960" y="1645920"/>
            <a:ext cx="137160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8</a:t>
            </a:r>
            <a:endParaRPr lang="en-US" sz="4800" dirty="0"/>
          </a:p>
        </p:txBody>
      </p:sp>
      <p:sp>
        <p:nvSpPr>
          <p:cNvPr id="8" name="Text 6"/>
          <p:cNvSpPr txBox="1"/>
          <p:nvPr/>
        </p:nvSpPr>
        <p:spPr>
          <a:xfrm>
            <a:off x="3108960" y="2514600"/>
            <a:ext cx="1371600" cy="365760"/>
          </a:xfrm>
          <a:prstGeom prst="rect">
            <a:avLst/>
          </a:prstGeom>
          <a:noFill/>
          <a:ln/>
        </p:spPr>
        <p:txBody>
          <a:bodyPr wrap="square" lIns="0" tIns="0" rIns="0" bIns="0" rtlCol="0" anchor="t"/>
          <a:lstStyle/>
          <a:p>
            <a:pPr indent="0" marL="0">
              <a:buNone/>
            </a:pPr>
            <a:r>
              <a:rPr lang="en-US" sz="1600" b="1" dirty="0">
                <a:solidFill>
                  <a:schemeClr val="tx2"/>
                </a:solidFill>
              </a:rPr>
              <a:t>unproven</a:t>
            </a:r>
            <a:endParaRPr lang="en-US" sz="1600" dirty="0"/>
          </a:p>
        </p:txBody>
      </p:sp>
      <p:sp>
        <p:nvSpPr>
          <p:cNvPr id="9" name="Shape 7"/>
          <p:cNvSpPr/>
          <p:nvPr/>
        </p:nvSpPr>
        <p:spPr>
          <a:xfrm>
            <a:off x="5029200" y="1508760"/>
            <a:ext cx="1920240" cy="1508760"/>
          </a:xfrm>
          <a:prstGeom prst="roundRect">
            <a:avLst>
              <a:gd name="adj" fmla="val 7273"/>
            </a:avLst>
          </a:prstGeom>
          <a:solidFill>
            <a:schemeClr val="bg2"/>
          </a:solidFill>
          <a:ln/>
        </p:spPr>
      </p:sp>
      <p:sp>
        <p:nvSpPr>
          <p:cNvPr id="10" name="Text 8"/>
          <p:cNvSpPr txBox="1"/>
          <p:nvPr/>
        </p:nvSpPr>
        <p:spPr>
          <a:xfrm>
            <a:off x="5303520" y="1645920"/>
            <a:ext cx="1371600" cy="822960"/>
          </a:xfrm>
          <a:prstGeom prst="rect">
            <a:avLst/>
          </a:prstGeom>
          <a:noFill/>
          <a:ln/>
        </p:spPr>
        <p:txBody>
          <a:bodyPr wrap="square" lIns="0" tIns="0" rIns="0" bIns="0" rtlCol="0" anchor="t"/>
          <a:lstStyle/>
          <a:p>
            <a:pPr indent="0" marL="0">
              <a:buNone/>
            </a:pPr>
            <a:r>
              <a:rPr lang="en-US" sz="4800" b="1" dirty="0">
                <a:solidFill>
                  <a:schemeClr val="accent4"/>
                </a:solidFill>
                <a:latin typeface="Cambria" pitchFamily="34" charset="0"/>
                <a:ea typeface="Cambria" pitchFamily="34" charset="-122"/>
                <a:cs typeface="Cambria" pitchFamily="34" charset="-120"/>
              </a:rPr>
              <a:t>0</a:t>
            </a:r>
            <a:endParaRPr lang="en-US" sz="4800" dirty="0"/>
          </a:p>
        </p:txBody>
      </p:sp>
      <p:sp>
        <p:nvSpPr>
          <p:cNvPr id="11" name="Text 9"/>
          <p:cNvSpPr txBox="1"/>
          <p:nvPr/>
        </p:nvSpPr>
        <p:spPr>
          <a:xfrm>
            <a:off x="5303520" y="2514600"/>
            <a:ext cx="1371600" cy="365760"/>
          </a:xfrm>
          <a:prstGeom prst="rect">
            <a:avLst/>
          </a:prstGeom>
          <a:noFill/>
          <a:ln/>
        </p:spPr>
        <p:txBody>
          <a:bodyPr wrap="square" lIns="0" tIns="0" rIns="0" bIns="0" rtlCol="0" anchor="t"/>
          <a:lstStyle/>
          <a:p>
            <a:pPr indent="0" marL="0">
              <a:buNone/>
            </a:pPr>
            <a:r>
              <a:rPr lang="en-US" sz="1600" b="1" dirty="0">
                <a:solidFill>
                  <a:schemeClr val="tx2"/>
                </a:solidFill>
              </a:rPr>
              <a:t>contradicted</a:t>
            </a:r>
            <a:endParaRPr lang="en-US" sz="1600" dirty="0"/>
          </a:p>
        </p:txBody>
      </p:sp>
      <p:sp>
        <p:nvSpPr>
          <p:cNvPr id="12" name="Text 10"/>
          <p:cNvSpPr txBox="1"/>
          <p:nvPr/>
        </p:nvSpPr>
        <p:spPr>
          <a:xfrm>
            <a:off x="640080" y="3337560"/>
            <a:ext cx="6309360" cy="365760"/>
          </a:xfrm>
          <a:prstGeom prst="rect">
            <a:avLst/>
          </a:prstGeom>
          <a:noFill/>
          <a:ln/>
        </p:spPr>
        <p:txBody>
          <a:bodyPr wrap="square" lIns="0" tIns="0" rIns="0" bIns="0" rtlCol="0" anchor="t"/>
          <a:lstStyle/>
          <a:p>
            <a:pPr indent="0" marL="0">
              <a:buNone/>
            </a:pPr>
            <a:r>
              <a:rPr lang="en-US" sz="2000" b="1" dirty="0">
                <a:solidFill>
                  <a:schemeClr val="tx2"/>
                </a:solidFill>
              </a:rPr>
              <a:t>Held the BIS licence on 27 Aug 2020</a:t>
            </a:r>
            <a:endParaRPr lang="en-US" sz="2000" dirty="0"/>
          </a:p>
        </p:txBody>
      </p:sp>
      <p:sp>
        <p:nvSpPr>
          <p:cNvPr id="13" name="Text 11"/>
          <p:cNvSpPr txBox="1"/>
          <p:nvPr/>
        </p:nvSpPr>
        <p:spPr>
          <a:xfrm>
            <a:off x="640080" y="3749040"/>
            <a:ext cx="6309360" cy="822960"/>
          </a:xfrm>
          <a:prstGeom prst="rect">
            <a:avLst/>
          </a:prstGeom>
          <a:noFill/>
          <a:ln/>
        </p:spPr>
        <p:txBody>
          <a:bodyPr wrap="square" lIns="0" tIns="0" rIns="0" bIns="0" rtlCol="0" anchor="t"/>
          <a:lstStyle/>
          <a:p>
            <a:pPr indent="0" marL="0">
              <a:buNone/>
            </a:pPr>
            <a:r>
              <a:rPr lang="en-US" sz="1600" dirty="0">
                <a:solidFill>
                  <a:schemeClr val="tx1"/>
                </a:solidFill>
              </a:rPr>
              <a:t>All four suppliers proven, from the official BIS FFP2 licence list. Each result links to the record it came from.</a:t>
            </a:r>
            <a:endParaRPr lang="en-US" sz="1600" dirty="0"/>
          </a:p>
        </p:txBody>
      </p:sp>
      <p:sp>
        <p:nvSpPr>
          <p:cNvPr id="14" name="Text 12"/>
          <p:cNvSpPr txBox="1"/>
          <p:nvPr/>
        </p:nvSpPr>
        <p:spPr>
          <a:xfrm>
            <a:off x="640080" y="4663440"/>
            <a:ext cx="6309360" cy="365760"/>
          </a:xfrm>
          <a:prstGeom prst="rect">
            <a:avLst/>
          </a:prstGeom>
          <a:noFill/>
          <a:ln/>
        </p:spPr>
        <p:txBody>
          <a:bodyPr wrap="square" lIns="0" tIns="0" rIns="0" bIns="0" rtlCol="0" anchor="t"/>
          <a:lstStyle/>
          <a:p>
            <a:pPr indent="0" marL="0">
              <a:buNone/>
            </a:pPr>
            <a:r>
              <a:rPr lang="en-US" sz="2000" b="1" dirty="0">
                <a:solidFill>
                  <a:schemeClr val="tx2"/>
                </a:solidFill>
              </a:rPr>
              <a:t>Manufacturer and licence valid today</a:t>
            </a:r>
            <a:endParaRPr lang="en-US" sz="2000" dirty="0"/>
          </a:p>
        </p:txBody>
      </p:sp>
      <p:sp>
        <p:nvSpPr>
          <p:cNvPr id="15" name="Text 13"/>
          <p:cNvSpPr txBox="1"/>
          <p:nvPr/>
        </p:nvSpPr>
        <p:spPr>
          <a:xfrm>
            <a:off x="640080" y="5074920"/>
            <a:ext cx="6309360" cy="822960"/>
          </a:xfrm>
          <a:prstGeom prst="rect">
            <a:avLst/>
          </a:prstGeom>
          <a:noFill/>
          <a:ln/>
        </p:spPr>
        <p:txBody>
          <a:bodyPr wrap="square" lIns="0" tIns="0" rIns="0" bIns="0" rtlCol="0" anchor="t"/>
          <a:lstStyle/>
          <a:p>
            <a:pPr indent="0" marL="0">
              <a:buNone/>
            </a:pPr>
            <a:r>
              <a:rPr lang="en-US" sz="1600" dirty="0">
                <a:solidFill>
                  <a:schemeClr val="tx1"/>
                </a:solidFill>
              </a:rPr>
              <a:t>Unproven. The evidence needed was not found. That does not mean the claim is false, and the report says so.</a:t>
            </a:r>
            <a:endParaRPr lang="en-US" sz="1600" dirty="0"/>
          </a:p>
        </p:txBody>
      </p:sp>
      <p:sp>
        <p:nvSpPr>
          <p:cNvPr id="16" name="Shape 14"/>
          <p:cNvSpPr/>
          <p:nvPr/>
        </p:nvSpPr>
        <p:spPr>
          <a:xfrm>
            <a:off x="7964424" y="1335024"/>
            <a:ext cx="3666744" cy="4928616"/>
          </a:xfrm>
          <a:prstGeom prst="rect">
            <a:avLst/>
          </a:prstGeom>
          <a:solidFill>
            <a:schemeClr val="bg1"/>
          </a:solidFill>
          <a:ln w="12700">
            <a:solidFill>
              <a:schemeClr val="accent6"/>
            </a:solidFill>
            <a:prstDash val="solid"/>
          </a:ln>
          <a:effectLst>
            <a:outerShdw sx="100000" sy="100000" kx="0" ky="0" algn="bl" rotWithShape="0" blurRad="127000" dist="38100" dir="5400000">
              <a:srgbClr val="000000">
                <a:alpha val="18000"/>
              </a:srgbClr>
            </a:outerShdw>
          </a:effectLst>
        </p:spPr>
      </p:sp>
      <p:pic>
        <p:nvPicPr>
          <p:cNvPr id="17" name="Image 0" descr="VeriSource screenshot">    </p:cNvPr>
          <p:cNvPicPr>
            <a:picLocks noChangeAspect="1"/>
          </p:cNvPicPr>
          <p:nvPr/>
        </p:nvPicPr>
        <p:blipFill>
          <a:blip r:embed="rId1"/>
          <a:stretch>
            <a:fillRect/>
          </a:stretch>
        </p:blipFill>
        <p:spPr>
          <a:xfrm>
            <a:off x="8001000" y="1371600"/>
            <a:ext cx="3593592" cy="4855464"/>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Three verdicts, nothing guessed</a:t>
            </a:r>
            <a:endParaRPr lang="en-US" sz="3400" dirty="0"/>
          </a:p>
        </p:txBody>
      </p:sp>
      <p:sp>
        <p:nvSpPr>
          <p:cNvPr id="3" name="Shape 1"/>
          <p:cNvSpPr/>
          <p:nvPr/>
        </p:nvSpPr>
        <p:spPr>
          <a:xfrm>
            <a:off x="640080" y="1554480"/>
            <a:ext cx="3429000" cy="3383280"/>
          </a:xfrm>
          <a:prstGeom prst="roundRect">
            <a:avLst>
              <a:gd name="adj" fmla="val 3243"/>
            </a:avLst>
          </a:prstGeom>
          <a:solidFill>
            <a:schemeClr val="bg2"/>
          </a:solidFill>
          <a:ln/>
        </p:spPr>
      </p:sp>
      <p:sp>
        <p:nvSpPr>
          <p:cNvPr id="4" name="dot-FiCheck"/>
          <p:cNvSpPr/>
          <p:nvPr/>
        </p:nvSpPr>
        <p:spPr>
          <a:xfrm>
            <a:off x="960120" y="1828800"/>
            <a:ext cx="777240" cy="777240"/>
          </a:xfrm>
          <a:prstGeom prst="ellipse">
            <a:avLst/>
          </a:prstGeom>
          <a:solidFill>
            <a:schemeClr val="accent3"/>
          </a:solidFill>
          <a:ln/>
        </p:spPr>
      </p:sp>
      <p:pic>
        <p:nvPicPr>
          <p:cNvPr id="5" name="Image 0" descr="FiCheck">    </p:cNvPr>
          <p:cNvPicPr>
            <a:picLocks noChangeAspect="1"/>
          </p:cNvPicPr>
          <p:nvPr/>
        </p:nvPicPr>
        <p:blipFill>
          <a:blip r:embed="rId1"/>
          <a:stretch>
            <a:fillRect/>
          </a:stretch>
        </p:blipFill>
        <p:spPr>
          <a:xfrm>
            <a:off x="1131113" y="1999793"/>
            <a:ext cx="435254" cy="435254"/>
          </a:xfrm>
          <a:prstGeom prst="rect">
            <a:avLst/>
          </a:prstGeom>
        </p:spPr>
      </p:pic>
      <p:sp>
        <p:nvSpPr>
          <p:cNvPr id="6" name="Text 3"/>
          <p:cNvSpPr txBox="1"/>
          <p:nvPr/>
        </p:nvSpPr>
        <p:spPr>
          <a:xfrm>
            <a:off x="960120" y="2788920"/>
            <a:ext cx="278892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Proven</a:t>
            </a:r>
            <a:endParaRPr lang="en-US" sz="2600" dirty="0"/>
          </a:p>
        </p:txBody>
      </p:sp>
      <p:sp>
        <p:nvSpPr>
          <p:cNvPr id="7" name="Text 4"/>
          <p:cNvSpPr txBox="1"/>
          <p:nvPr/>
        </p:nvSpPr>
        <p:spPr>
          <a:xfrm>
            <a:off x="960120" y="3337560"/>
            <a:ext cx="2788920" cy="1463040"/>
          </a:xfrm>
          <a:prstGeom prst="rect">
            <a:avLst/>
          </a:prstGeom>
          <a:noFill/>
          <a:ln/>
        </p:spPr>
        <p:txBody>
          <a:bodyPr wrap="square" lIns="0" tIns="0" rIns="0" bIns="0" rtlCol="0" anchor="t"/>
          <a:lstStyle/>
          <a:p>
            <a:pPr indent="0" marL="0">
              <a:buNone/>
            </a:pPr>
            <a:r>
              <a:rPr lang="en-US" sz="1600" dirty="0">
                <a:solidFill>
                  <a:schemeClr val="tx1"/>
                </a:solidFill>
              </a:rPr>
              <a:t>Evidence found for exactly this claim and period, from an official source. History is labelled as history: “held the licence on 27 Aug 2020”.</a:t>
            </a:r>
            <a:endParaRPr lang="en-US" sz="1600" dirty="0"/>
          </a:p>
        </p:txBody>
      </p:sp>
      <p:sp>
        <p:nvSpPr>
          <p:cNvPr id="8" name="Shape 5"/>
          <p:cNvSpPr/>
          <p:nvPr/>
        </p:nvSpPr>
        <p:spPr>
          <a:xfrm>
            <a:off x="4366260" y="1554480"/>
            <a:ext cx="3429000" cy="3383280"/>
          </a:xfrm>
          <a:prstGeom prst="roundRect">
            <a:avLst>
              <a:gd name="adj" fmla="val 3243"/>
            </a:avLst>
          </a:prstGeom>
          <a:solidFill>
            <a:schemeClr val="bg2"/>
          </a:solidFill>
          <a:ln/>
        </p:spPr>
      </p:sp>
      <p:sp>
        <p:nvSpPr>
          <p:cNvPr id="9" name="dot-FiHelpCircle"/>
          <p:cNvSpPr/>
          <p:nvPr/>
        </p:nvSpPr>
        <p:spPr>
          <a:xfrm>
            <a:off x="4686300" y="1828800"/>
            <a:ext cx="777240" cy="777240"/>
          </a:xfrm>
          <a:prstGeom prst="ellipse">
            <a:avLst/>
          </a:prstGeom>
          <a:solidFill>
            <a:schemeClr val="accent2"/>
          </a:solidFill>
          <a:ln/>
        </p:spPr>
      </p:sp>
      <p:pic>
        <p:nvPicPr>
          <p:cNvPr id="10" name="Image 1" descr="FiHelpCircle">    </p:cNvPr>
          <p:cNvPicPr>
            <a:picLocks noChangeAspect="1"/>
          </p:cNvPicPr>
          <p:nvPr/>
        </p:nvPicPr>
        <p:blipFill>
          <a:blip r:embed="rId2"/>
          <a:stretch>
            <a:fillRect/>
          </a:stretch>
        </p:blipFill>
        <p:spPr>
          <a:xfrm>
            <a:off x="4857293" y="1999793"/>
            <a:ext cx="435254" cy="435254"/>
          </a:xfrm>
          <a:prstGeom prst="rect">
            <a:avLst/>
          </a:prstGeom>
        </p:spPr>
      </p:pic>
      <p:sp>
        <p:nvSpPr>
          <p:cNvPr id="11" name="Text 7"/>
          <p:cNvSpPr txBox="1"/>
          <p:nvPr/>
        </p:nvSpPr>
        <p:spPr>
          <a:xfrm>
            <a:off x="4686300" y="2788920"/>
            <a:ext cx="278892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Unproven</a:t>
            </a:r>
            <a:endParaRPr lang="en-US" sz="2600" dirty="0"/>
          </a:p>
        </p:txBody>
      </p:sp>
      <p:sp>
        <p:nvSpPr>
          <p:cNvPr id="12" name="Text 8"/>
          <p:cNvSpPr txBox="1"/>
          <p:nvPr/>
        </p:nvSpPr>
        <p:spPr>
          <a:xfrm>
            <a:off x="4686300" y="3337560"/>
            <a:ext cx="2788920" cy="1463040"/>
          </a:xfrm>
          <a:prstGeom prst="rect">
            <a:avLst/>
          </a:prstGeom>
          <a:noFill/>
          <a:ln/>
        </p:spPr>
        <p:txBody>
          <a:bodyPr wrap="square" lIns="0" tIns="0" rIns="0" bIns="0" rtlCol="0" anchor="t"/>
          <a:lstStyle/>
          <a:p>
            <a:pPr indent="0" marL="0">
              <a:buNone/>
            </a:pPr>
            <a:r>
              <a:rPr lang="en-US" sz="1600" dirty="0">
                <a:solidFill>
                  <a:schemeClr val="tx1"/>
                </a:solidFill>
              </a:rPr>
              <a:t>Evidence is missing, stale or ambiguous. Shown as a gap, never as a failure.</a:t>
            </a:r>
            <a:endParaRPr lang="en-US" sz="1600" dirty="0"/>
          </a:p>
        </p:txBody>
      </p:sp>
      <p:sp>
        <p:nvSpPr>
          <p:cNvPr id="13" name="Shape 9"/>
          <p:cNvSpPr/>
          <p:nvPr/>
        </p:nvSpPr>
        <p:spPr>
          <a:xfrm>
            <a:off x="8092440" y="1554480"/>
            <a:ext cx="3429000" cy="3383280"/>
          </a:xfrm>
          <a:prstGeom prst="roundRect">
            <a:avLst>
              <a:gd name="adj" fmla="val 3243"/>
            </a:avLst>
          </a:prstGeom>
          <a:solidFill>
            <a:schemeClr val="bg2"/>
          </a:solidFill>
          <a:ln/>
        </p:spPr>
      </p:sp>
      <p:sp>
        <p:nvSpPr>
          <p:cNvPr id="14" name="dot-FiX"/>
          <p:cNvSpPr/>
          <p:nvPr/>
        </p:nvSpPr>
        <p:spPr>
          <a:xfrm>
            <a:off x="8412480" y="1828800"/>
            <a:ext cx="777240" cy="777240"/>
          </a:xfrm>
          <a:prstGeom prst="ellipse">
            <a:avLst/>
          </a:prstGeom>
          <a:solidFill>
            <a:schemeClr val="accent4"/>
          </a:solidFill>
          <a:ln/>
        </p:spPr>
      </p:sp>
      <p:pic>
        <p:nvPicPr>
          <p:cNvPr id="15" name="Image 2" descr="FiX">    </p:cNvPr>
          <p:cNvPicPr>
            <a:picLocks noChangeAspect="1"/>
          </p:cNvPicPr>
          <p:nvPr/>
        </p:nvPicPr>
        <p:blipFill>
          <a:blip r:embed="rId3"/>
          <a:stretch>
            <a:fillRect/>
          </a:stretch>
        </p:blipFill>
        <p:spPr>
          <a:xfrm>
            <a:off x="8583473" y="1999793"/>
            <a:ext cx="435254" cy="435254"/>
          </a:xfrm>
          <a:prstGeom prst="rect">
            <a:avLst/>
          </a:prstGeom>
        </p:spPr>
      </p:pic>
      <p:sp>
        <p:nvSpPr>
          <p:cNvPr id="16" name="Text 11"/>
          <p:cNvSpPr txBox="1"/>
          <p:nvPr/>
        </p:nvSpPr>
        <p:spPr>
          <a:xfrm>
            <a:off x="8412480" y="2788920"/>
            <a:ext cx="278892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Contradicted</a:t>
            </a:r>
            <a:endParaRPr lang="en-US" sz="2600" dirty="0"/>
          </a:p>
        </p:txBody>
      </p:sp>
      <p:sp>
        <p:nvSpPr>
          <p:cNvPr id="17" name="Text 12"/>
          <p:cNvSpPr txBox="1"/>
          <p:nvPr/>
        </p:nvSpPr>
        <p:spPr>
          <a:xfrm>
            <a:off x="8412480" y="3337560"/>
            <a:ext cx="2788920" cy="1463040"/>
          </a:xfrm>
          <a:prstGeom prst="rect">
            <a:avLst/>
          </a:prstGeom>
          <a:noFill/>
          <a:ln/>
        </p:spPr>
        <p:txBody>
          <a:bodyPr wrap="square" lIns="0" tIns="0" rIns="0" bIns="0" rtlCol="0" anchor="t"/>
          <a:lstStyle/>
          <a:p>
            <a:pPr indent="0" marL="0">
              <a:buNone/>
            </a:pPr>
            <a:r>
              <a:rPr lang="en-US" sz="1600" dirty="0">
                <a:solidFill>
                  <a:schemeClr val="tx1"/>
                </a:solidFill>
              </a:rPr>
              <a:t>A source refutes the claim. Built into the rules, but no real source can show it yet.</a:t>
            </a:r>
            <a:endParaRPr lang="en-US" sz="1600" dirty="0"/>
          </a:p>
        </p:txBody>
      </p:sp>
      <p:sp>
        <p:nvSpPr>
          <p:cNvPr id="18" name="Shape 13"/>
          <p:cNvSpPr/>
          <p:nvPr/>
        </p:nvSpPr>
        <p:spPr>
          <a:xfrm>
            <a:off x="640080" y="5257800"/>
            <a:ext cx="10927080" cy="777240"/>
          </a:xfrm>
          <a:prstGeom prst="roundRect">
            <a:avLst>
              <a:gd name="adj" fmla="val 14118"/>
            </a:avLst>
          </a:prstGeom>
          <a:solidFill>
            <a:schemeClr val="tx2"/>
          </a:solidFill>
          <a:ln/>
        </p:spPr>
      </p:sp>
      <p:sp>
        <p:nvSpPr>
          <p:cNvPr id="19" name="Text 14"/>
          <p:cNvSpPr txBox="1"/>
          <p:nvPr/>
        </p:nvSpPr>
        <p:spPr>
          <a:xfrm>
            <a:off x="1005840" y="5257800"/>
            <a:ext cx="10241280" cy="777240"/>
          </a:xfrm>
          <a:prstGeom prst="rect">
            <a:avLst/>
          </a:prstGeom>
          <a:noFill/>
          <a:ln/>
        </p:spPr>
        <p:txBody>
          <a:bodyPr wrap="square" lIns="0" tIns="0" rIns="0" bIns="0" rtlCol="0" anchor="ctr"/>
          <a:lstStyle/>
          <a:p>
            <a:pPr indent="0" marL="0">
              <a:buNone/>
            </a:pPr>
            <a:r>
              <a:rPr lang="en-US" sz="2000" b="1" dirty="0">
                <a:solidFill>
                  <a:schemeClr val="bg1"/>
                </a:solidFill>
              </a:rPr>
              <a:t>Every verdict shows its source, its date and the checks that were tried.</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What happens behind the chat</a:t>
            </a:r>
            <a:endParaRPr lang="en-US" sz="3400" dirty="0"/>
          </a:p>
        </p:txBody>
      </p:sp>
      <p:sp>
        <p:nvSpPr>
          <p:cNvPr id="3" name="Shape 1"/>
          <p:cNvSpPr/>
          <p:nvPr/>
        </p:nvSpPr>
        <p:spPr>
          <a:xfrm>
            <a:off x="640080" y="1600200"/>
            <a:ext cx="1920240" cy="3200400"/>
          </a:xfrm>
          <a:prstGeom prst="roundRect">
            <a:avLst>
              <a:gd name="adj" fmla="val 5714"/>
            </a:avLst>
          </a:prstGeom>
          <a:solidFill>
            <a:schemeClr val="bg2"/>
          </a:solidFill>
          <a:ln/>
        </p:spPr>
      </p:sp>
      <p:sp>
        <p:nvSpPr>
          <p:cNvPr id="4" name="dot-FiMessageCircle"/>
          <p:cNvSpPr/>
          <p:nvPr/>
        </p:nvSpPr>
        <p:spPr>
          <a:xfrm>
            <a:off x="914400" y="1874520"/>
            <a:ext cx="685800" cy="685800"/>
          </a:xfrm>
          <a:prstGeom prst="ellipse">
            <a:avLst/>
          </a:prstGeom>
          <a:solidFill>
            <a:schemeClr val="accent1"/>
          </a:solidFill>
          <a:ln/>
        </p:spPr>
      </p:sp>
      <p:pic>
        <p:nvPicPr>
          <p:cNvPr id="5" name="Image 0" descr="FiMessageCircle">    </p:cNvPr>
          <p:cNvPicPr>
            <a:picLocks noChangeAspect="1"/>
          </p:cNvPicPr>
          <p:nvPr/>
        </p:nvPicPr>
        <p:blipFill>
          <a:blip r:embed="rId1"/>
          <a:stretch>
            <a:fillRect/>
          </a:stretch>
        </p:blipFill>
        <p:spPr>
          <a:xfrm>
            <a:off x="1065276" y="2025396"/>
            <a:ext cx="384048" cy="384048"/>
          </a:xfrm>
          <a:prstGeom prst="rect">
            <a:avLst/>
          </a:prstGeom>
        </p:spPr>
      </p:pic>
      <p:sp>
        <p:nvSpPr>
          <p:cNvPr id="6" name="Text 3"/>
          <p:cNvSpPr txBox="1"/>
          <p:nvPr/>
        </p:nvSpPr>
        <p:spPr>
          <a:xfrm>
            <a:off x="868680" y="2743200"/>
            <a:ext cx="1463040" cy="640080"/>
          </a:xfrm>
          <a:prstGeom prst="rect">
            <a:avLst/>
          </a:prstGeom>
          <a:noFill/>
          <a:ln/>
        </p:spPr>
        <p:txBody>
          <a:bodyPr wrap="square" lIns="0" tIns="0" rIns="0" bIns="0" rtlCol="0" anchor="t"/>
          <a:lstStyle/>
          <a:p>
            <a:pPr indent="0" marL="0">
              <a:buNone/>
            </a:pPr>
            <a:r>
              <a:rPr lang="en-US" sz="1800" b="1" dirty="0">
                <a:solidFill>
                  <a:schemeClr val="tx2"/>
                </a:solidFill>
              </a:rPr>
              <a:t>Chat assistant</a:t>
            </a:r>
            <a:endParaRPr lang="en-US" sz="1800" dirty="0"/>
          </a:p>
        </p:txBody>
      </p:sp>
      <p:sp>
        <p:nvSpPr>
          <p:cNvPr id="7" name="Text 4"/>
          <p:cNvSpPr txBox="1"/>
          <p:nvPr/>
        </p:nvSpPr>
        <p:spPr>
          <a:xfrm>
            <a:off x="868680" y="3383280"/>
            <a:ext cx="1463040" cy="1325880"/>
          </a:xfrm>
          <a:prstGeom prst="rect">
            <a:avLst/>
          </a:prstGeom>
          <a:noFill/>
          <a:ln/>
        </p:spPr>
        <p:txBody>
          <a:bodyPr wrap="square" lIns="0" tIns="0" rIns="0" bIns="0" rtlCol="0" anchor="t"/>
          <a:lstStyle/>
          <a:p>
            <a:pPr indent="0" marL="0">
              <a:buNone/>
            </a:pPr>
            <a:r>
              <a:rPr lang="en-US" sz="1400" dirty="0">
                <a:solidFill>
                  <a:schemeClr val="tx1"/>
                </a:solidFill>
              </a:rPr>
              <a:t>Understands the message and asks short questions. Writes no facts.</a:t>
            </a:r>
            <a:endParaRPr lang="en-US" sz="1400" dirty="0"/>
          </a:p>
        </p:txBody>
      </p:sp>
      <p:sp>
        <p:nvSpPr>
          <p:cNvPr id="8" name="Shape 5"/>
          <p:cNvSpPr/>
          <p:nvPr/>
        </p:nvSpPr>
        <p:spPr>
          <a:xfrm>
            <a:off x="2596896" y="3017520"/>
            <a:ext cx="256032" cy="365760"/>
          </a:xfrm>
          <a:prstGeom prst="rightArrow">
            <a:avLst/>
          </a:prstGeom>
          <a:solidFill>
            <a:schemeClr val="accent1"/>
          </a:solidFill>
          <a:ln/>
        </p:spPr>
      </p:sp>
      <p:sp>
        <p:nvSpPr>
          <p:cNvPr id="9" name="Shape 6"/>
          <p:cNvSpPr/>
          <p:nvPr/>
        </p:nvSpPr>
        <p:spPr>
          <a:xfrm>
            <a:off x="2889504" y="1600200"/>
            <a:ext cx="1920240" cy="3200400"/>
          </a:xfrm>
          <a:prstGeom prst="roundRect">
            <a:avLst>
              <a:gd name="adj" fmla="val 5714"/>
            </a:avLst>
          </a:prstGeom>
          <a:solidFill>
            <a:schemeClr val="bg2"/>
          </a:solidFill>
          <a:ln/>
        </p:spPr>
      </p:sp>
      <p:sp>
        <p:nvSpPr>
          <p:cNvPr id="10" name="dot-FiUserCheck"/>
          <p:cNvSpPr/>
          <p:nvPr/>
        </p:nvSpPr>
        <p:spPr>
          <a:xfrm>
            <a:off x="3163824" y="1874520"/>
            <a:ext cx="685800" cy="685800"/>
          </a:xfrm>
          <a:prstGeom prst="ellipse">
            <a:avLst/>
          </a:prstGeom>
          <a:solidFill>
            <a:schemeClr val="accent1"/>
          </a:solidFill>
          <a:ln/>
        </p:spPr>
      </p:sp>
      <p:pic>
        <p:nvPicPr>
          <p:cNvPr id="11" name="Image 1" descr="FiUserCheck">    </p:cNvPr>
          <p:cNvPicPr>
            <a:picLocks noChangeAspect="1"/>
          </p:cNvPicPr>
          <p:nvPr/>
        </p:nvPicPr>
        <p:blipFill>
          <a:blip r:embed="rId2"/>
          <a:stretch>
            <a:fillRect/>
          </a:stretch>
        </p:blipFill>
        <p:spPr>
          <a:xfrm>
            <a:off x="3314700" y="2025396"/>
            <a:ext cx="384048" cy="384048"/>
          </a:xfrm>
          <a:prstGeom prst="rect">
            <a:avLst/>
          </a:prstGeom>
        </p:spPr>
      </p:pic>
      <p:sp>
        <p:nvSpPr>
          <p:cNvPr id="12" name="Text 8"/>
          <p:cNvSpPr txBox="1"/>
          <p:nvPr/>
        </p:nvSpPr>
        <p:spPr>
          <a:xfrm>
            <a:off x="3118104" y="2743200"/>
            <a:ext cx="1463040" cy="640080"/>
          </a:xfrm>
          <a:prstGeom prst="rect">
            <a:avLst/>
          </a:prstGeom>
          <a:noFill/>
          <a:ln/>
        </p:spPr>
        <p:txBody>
          <a:bodyPr wrap="square" lIns="0" tIns="0" rIns="0" bIns="0" rtlCol="0" anchor="t"/>
          <a:lstStyle/>
          <a:p>
            <a:pPr indent="0" marL="0">
              <a:buNone/>
            </a:pPr>
            <a:r>
              <a:rPr lang="en-US" sz="1800" b="1" dirty="0">
                <a:solidFill>
                  <a:schemeClr val="tx2"/>
                </a:solidFill>
              </a:rPr>
              <a:t>Buyer gates</a:t>
            </a:r>
            <a:endParaRPr lang="en-US" sz="1800" dirty="0"/>
          </a:p>
        </p:txBody>
      </p:sp>
      <p:sp>
        <p:nvSpPr>
          <p:cNvPr id="13" name="Text 9"/>
          <p:cNvSpPr txBox="1"/>
          <p:nvPr/>
        </p:nvSpPr>
        <p:spPr>
          <a:xfrm>
            <a:off x="3118104" y="3383280"/>
            <a:ext cx="1463040" cy="1325880"/>
          </a:xfrm>
          <a:prstGeom prst="rect">
            <a:avLst/>
          </a:prstGeom>
          <a:noFill/>
          <a:ln/>
        </p:spPr>
        <p:txBody>
          <a:bodyPr wrap="square" lIns="0" tIns="0" rIns="0" bIns="0" rtlCol="0" anchor="t"/>
          <a:lstStyle/>
          <a:p>
            <a:pPr indent="0" marL="0">
              <a:buNone/>
            </a:pPr>
            <a:r>
              <a:rPr lang="en-US" sz="1400" dirty="0">
                <a:solidFill>
                  <a:schemeClr val="tx1"/>
                </a:solidFill>
              </a:rPr>
              <a:t>The buyer confirms requirements and checks, and starts verification.</a:t>
            </a:r>
            <a:endParaRPr lang="en-US" sz="1400" dirty="0"/>
          </a:p>
        </p:txBody>
      </p:sp>
      <p:sp>
        <p:nvSpPr>
          <p:cNvPr id="14" name="Shape 10"/>
          <p:cNvSpPr/>
          <p:nvPr/>
        </p:nvSpPr>
        <p:spPr>
          <a:xfrm>
            <a:off x="4846320" y="3017520"/>
            <a:ext cx="256032" cy="365760"/>
          </a:xfrm>
          <a:prstGeom prst="rightArrow">
            <a:avLst/>
          </a:prstGeom>
          <a:solidFill>
            <a:schemeClr val="accent1"/>
          </a:solidFill>
          <a:ln/>
        </p:spPr>
      </p:sp>
      <p:sp>
        <p:nvSpPr>
          <p:cNvPr id="15" name="Shape 11"/>
          <p:cNvSpPr/>
          <p:nvPr/>
        </p:nvSpPr>
        <p:spPr>
          <a:xfrm>
            <a:off x="5138928" y="1600200"/>
            <a:ext cx="1920240" cy="3200400"/>
          </a:xfrm>
          <a:prstGeom prst="roundRect">
            <a:avLst>
              <a:gd name="adj" fmla="val 5714"/>
            </a:avLst>
          </a:prstGeom>
          <a:solidFill>
            <a:schemeClr val="bg2"/>
          </a:solidFill>
          <a:ln/>
        </p:spPr>
      </p:sp>
      <p:sp>
        <p:nvSpPr>
          <p:cNvPr id="16" name="dot-FiGlobe"/>
          <p:cNvSpPr/>
          <p:nvPr/>
        </p:nvSpPr>
        <p:spPr>
          <a:xfrm>
            <a:off x="5413248" y="1874520"/>
            <a:ext cx="685800" cy="685800"/>
          </a:xfrm>
          <a:prstGeom prst="ellipse">
            <a:avLst/>
          </a:prstGeom>
          <a:solidFill>
            <a:schemeClr val="accent1"/>
          </a:solidFill>
          <a:ln/>
        </p:spPr>
      </p:sp>
      <p:pic>
        <p:nvPicPr>
          <p:cNvPr id="17" name="Image 2" descr="FiGlobe">    </p:cNvPr>
          <p:cNvPicPr>
            <a:picLocks noChangeAspect="1"/>
          </p:cNvPicPr>
          <p:nvPr/>
        </p:nvPicPr>
        <p:blipFill>
          <a:blip r:embed="rId3"/>
          <a:stretch>
            <a:fillRect/>
          </a:stretch>
        </p:blipFill>
        <p:spPr>
          <a:xfrm>
            <a:off x="5564124" y="2025396"/>
            <a:ext cx="384048" cy="384048"/>
          </a:xfrm>
          <a:prstGeom prst="rect">
            <a:avLst/>
          </a:prstGeom>
        </p:spPr>
      </p:pic>
      <p:sp>
        <p:nvSpPr>
          <p:cNvPr id="18" name="Text 13"/>
          <p:cNvSpPr txBox="1"/>
          <p:nvPr/>
        </p:nvSpPr>
        <p:spPr>
          <a:xfrm>
            <a:off x="5367528" y="2743200"/>
            <a:ext cx="1463040" cy="640080"/>
          </a:xfrm>
          <a:prstGeom prst="rect">
            <a:avLst/>
          </a:prstGeom>
          <a:noFill/>
          <a:ln/>
        </p:spPr>
        <p:txBody>
          <a:bodyPr wrap="square" lIns="0" tIns="0" rIns="0" bIns="0" rtlCol="0" anchor="t"/>
          <a:lstStyle/>
          <a:p>
            <a:pPr indent="0" marL="0">
              <a:buNone/>
            </a:pPr>
            <a:r>
              <a:rPr lang="en-US" sz="1800" b="1" dirty="0">
                <a:solidFill>
                  <a:schemeClr val="tx2"/>
                </a:solidFill>
              </a:rPr>
              <a:t>Collector</a:t>
            </a:r>
            <a:endParaRPr lang="en-US" sz="1800" dirty="0"/>
          </a:p>
        </p:txBody>
      </p:sp>
      <p:sp>
        <p:nvSpPr>
          <p:cNvPr id="19" name="Text 14"/>
          <p:cNvSpPr txBox="1"/>
          <p:nvPr/>
        </p:nvSpPr>
        <p:spPr>
          <a:xfrm>
            <a:off x="5367528" y="3383280"/>
            <a:ext cx="1463040" cy="1325880"/>
          </a:xfrm>
          <a:prstGeom prst="rect">
            <a:avLst/>
          </a:prstGeom>
          <a:noFill/>
          <a:ln/>
        </p:spPr>
        <p:txBody>
          <a:bodyPr wrap="square" lIns="0" tIns="0" rIns="0" bIns="0" rtlCol="0" anchor="t"/>
          <a:lstStyle/>
          <a:p>
            <a:pPr indent="0" marL="0">
              <a:buNone/>
            </a:pPr>
            <a:r>
              <a:rPr lang="en-US" sz="1400" dirty="0">
                <a:solidFill>
                  <a:schemeClr val="tx1"/>
                </a:solidFill>
              </a:rPr>
              <a:t>A background worker reads public pages and official lists.</a:t>
            </a:r>
            <a:endParaRPr lang="en-US" sz="1400" dirty="0"/>
          </a:p>
        </p:txBody>
      </p:sp>
      <p:sp>
        <p:nvSpPr>
          <p:cNvPr id="20" name="Shape 15"/>
          <p:cNvSpPr/>
          <p:nvPr/>
        </p:nvSpPr>
        <p:spPr>
          <a:xfrm>
            <a:off x="7095744" y="3017520"/>
            <a:ext cx="256032" cy="365760"/>
          </a:xfrm>
          <a:prstGeom prst="rightArrow">
            <a:avLst/>
          </a:prstGeom>
          <a:solidFill>
            <a:schemeClr val="accent1"/>
          </a:solidFill>
          <a:ln/>
        </p:spPr>
      </p:sp>
      <p:sp>
        <p:nvSpPr>
          <p:cNvPr id="21" name="Shape 16"/>
          <p:cNvSpPr/>
          <p:nvPr/>
        </p:nvSpPr>
        <p:spPr>
          <a:xfrm>
            <a:off x="7388352" y="1600200"/>
            <a:ext cx="1920240" cy="3200400"/>
          </a:xfrm>
          <a:prstGeom prst="roundRect">
            <a:avLst>
              <a:gd name="adj" fmla="val 5714"/>
            </a:avLst>
          </a:prstGeom>
          <a:solidFill>
            <a:schemeClr val="bg2"/>
          </a:solidFill>
          <a:ln/>
        </p:spPr>
      </p:sp>
      <p:sp>
        <p:nvSpPr>
          <p:cNvPr id="22" name="dot-FiShield"/>
          <p:cNvSpPr/>
          <p:nvPr/>
        </p:nvSpPr>
        <p:spPr>
          <a:xfrm>
            <a:off x="7662672" y="1874520"/>
            <a:ext cx="685800" cy="685800"/>
          </a:xfrm>
          <a:prstGeom prst="ellipse">
            <a:avLst/>
          </a:prstGeom>
          <a:solidFill>
            <a:schemeClr val="accent2"/>
          </a:solidFill>
          <a:ln/>
        </p:spPr>
      </p:sp>
      <p:pic>
        <p:nvPicPr>
          <p:cNvPr id="23" name="Image 3" descr="FiShield">    </p:cNvPr>
          <p:cNvPicPr>
            <a:picLocks noChangeAspect="1"/>
          </p:cNvPicPr>
          <p:nvPr/>
        </p:nvPicPr>
        <p:blipFill>
          <a:blip r:embed="rId4"/>
          <a:stretch>
            <a:fillRect/>
          </a:stretch>
        </p:blipFill>
        <p:spPr>
          <a:xfrm>
            <a:off x="7813548" y="2025396"/>
            <a:ext cx="384048" cy="384048"/>
          </a:xfrm>
          <a:prstGeom prst="rect">
            <a:avLst/>
          </a:prstGeom>
        </p:spPr>
      </p:pic>
      <p:sp>
        <p:nvSpPr>
          <p:cNvPr id="24" name="Text 18"/>
          <p:cNvSpPr txBox="1"/>
          <p:nvPr/>
        </p:nvSpPr>
        <p:spPr>
          <a:xfrm>
            <a:off x="7616952" y="2743200"/>
            <a:ext cx="1463040" cy="640080"/>
          </a:xfrm>
          <a:prstGeom prst="rect">
            <a:avLst/>
          </a:prstGeom>
          <a:noFill/>
          <a:ln/>
        </p:spPr>
        <p:txBody>
          <a:bodyPr wrap="square" lIns="0" tIns="0" rIns="0" bIns="0" rtlCol="0" anchor="t"/>
          <a:lstStyle/>
          <a:p>
            <a:pPr indent="0" marL="0">
              <a:buNone/>
            </a:pPr>
            <a:r>
              <a:rPr lang="en-US" sz="1800" b="1" dirty="0">
                <a:solidFill>
                  <a:schemeClr val="tx2"/>
                </a:solidFill>
              </a:rPr>
              <a:t>Evidence engine</a:t>
            </a:r>
            <a:endParaRPr lang="en-US" sz="1800" dirty="0"/>
          </a:p>
        </p:txBody>
      </p:sp>
      <p:sp>
        <p:nvSpPr>
          <p:cNvPr id="25" name="Text 19"/>
          <p:cNvSpPr txBox="1"/>
          <p:nvPr/>
        </p:nvSpPr>
        <p:spPr>
          <a:xfrm>
            <a:off x="7616952" y="3383280"/>
            <a:ext cx="1463040" cy="1325880"/>
          </a:xfrm>
          <a:prstGeom prst="rect">
            <a:avLst/>
          </a:prstGeom>
          <a:noFill/>
          <a:ln/>
        </p:spPr>
        <p:txBody>
          <a:bodyPr wrap="square" lIns="0" tIns="0" rIns="0" bIns="0" rtlCol="0" anchor="t"/>
          <a:lstStyle/>
          <a:p>
            <a:pPr indent="0" marL="0">
              <a:buNone/>
            </a:pPr>
            <a:r>
              <a:rPr lang="en-US" sz="1400" dirty="0">
                <a:solidFill>
                  <a:schemeClr val="tx1"/>
                </a:solidFill>
              </a:rPr>
              <a:t>Rules every claim from stored evidence, not from a model.</a:t>
            </a:r>
            <a:endParaRPr lang="en-US" sz="1400" dirty="0"/>
          </a:p>
        </p:txBody>
      </p:sp>
      <p:sp>
        <p:nvSpPr>
          <p:cNvPr id="26" name="Shape 20"/>
          <p:cNvSpPr/>
          <p:nvPr/>
        </p:nvSpPr>
        <p:spPr>
          <a:xfrm>
            <a:off x="9345168" y="3017520"/>
            <a:ext cx="256032" cy="365760"/>
          </a:xfrm>
          <a:prstGeom prst="rightArrow">
            <a:avLst/>
          </a:prstGeom>
          <a:solidFill>
            <a:schemeClr val="accent1"/>
          </a:solidFill>
          <a:ln/>
        </p:spPr>
      </p:sp>
      <p:sp>
        <p:nvSpPr>
          <p:cNvPr id="27" name="Shape 21"/>
          <p:cNvSpPr/>
          <p:nvPr/>
        </p:nvSpPr>
        <p:spPr>
          <a:xfrm>
            <a:off x="9637776" y="1600200"/>
            <a:ext cx="1920240" cy="3200400"/>
          </a:xfrm>
          <a:prstGeom prst="roundRect">
            <a:avLst>
              <a:gd name="adj" fmla="val 5714"/>
            </a:avLst>
          </a:prstGeom>
          <a:solidFill>
            <a:schemeClr val="bg2"/>
          </a:solidFill>
          <a:ln/>
        </p:spPr>
      </p:sp>
      <p:sp>
        <p:nvSpPr>
          <p:cNvPr id="28" name="dot-FiFileText"/>
          <p:cNvSpPr/>
          <p:nvPr/>
        </p:nvSpPr>
        <p:spPr>
          <a:xfrm>
            <a:off x="9912096" y="1874520"/>
            <a:ext cx="685800" cy="685800"/>
          </a:xfrm>
          <a:prstGeom prst="ellipse">
            <a:avLst/>
          </a:prstGeom>
          <a:solidFill>
            <a:schemeClr val="accent1"/>
          </a:solidFill>
          <a:ln/>
        </p:spPr>
      </p:sp>
      <p:pic>
        <p:nvPicPr>
          <p:cNvPr id="29" name="Image 4" descr="FiFileText">    </p:cNvPr>
          <p:cNvPicPr>
            <a:picLocks noChangeAspect="1"/>
          </p:cNvPicPr>
          <p:nvPr/>
        </p:nvPicPr>
        <p:blipFill>
          <a:blip r:embed="rId5"/>
          <a:stretch>
            <a:fillRect/>
          </a:stretch>
        </p:blipFill>
        <p:spPr>
          <a:xfrm>
            <a:off x="10062972" y="2025396"/>
            <a:ext cx="384048" cy="384048"/>
          </a:xfrm>
          <a:prstGeom prst="rect">
            <a:avLst/>
          </a:prstGeom>
        </p:spPr>
      </p:pic>
      <p:sp>
        <p:nvSpPr>
          <p:cNvPr id="30" name="Text 23"/>
          <p:cNvSpPr txBox="1"/>
          <p:nvPr/>
        </p:nvSpPr>
        <p:spPr>
          <a:xfrm>
            <a:off x="9866376" y="2743200"/>
            <a:ext cx="1463040" cy="640080"/>
          </a:xfrm>
          <a:prstGeom prst="rect">
            <a:avLst/>
          </a:prstGeom>
          <a:noFill/>
          <a:ln/>
        </p:spPr>
        <p:txBody>
          <a:bodyPr wrap="square" lIns="0" tIns="0" rIns="0" bIns="0" rtlCol="0" anchor="t"/>
          <a:lstStyle/>
          <a:p>
            <a:pPr indent="0" marL="0">
              <a:buNone/>
            </a:pPr>
            <a:r>
              <a:rPr lang="en-US" sz="1800" b="1" dirty="0">
                <a:solidFill>
                  <a:schemeClr val="tx2"/>
                </a:solidFill>
              </a:rPr>
              <a:t>Report</a:t>
            </a:r>
            <a:endParaRPr lang="en-US" sz="1800" dirty="0"/>
          </a:p>
        </p:txBody>
      </p:sp>
      <p:sp>
        <p:nvSpPr>
          <p:cNvPr id="31" name="Text 24"/>
          <p:cNvSpPr txBox="1"/>
          <p:nvPr/>
        </p:nvSpPr>
        <p:spPr>
          <a:xfrm>
            <a:off x="9866376" y="3383280"/>
            <a:ext cx="1463040" cy="1325880"/>
          </a:xfrm>
          <a:prstGeom prst="rect">
            <a:avLst/>
          </a:prstGeom>
          <a:noFill/>
          <a:ln/>
        </p:spPr>
        <p:txBody>
          <a:bodyPr wrap="square" lIns="0" tIns="0" rIns="0" bIns="0" rtlCol="0" anchor="t"/>
          <a:lstStyle/>
          <a:p>
            <a:pPr indent="0" marL="0">
              <a:buNone/>
            </a:pPr>
            <a:r>
              <a:rPr lang="en-US" sz="1400" dirty="0">
                <a:solidFill>
                  <a:schemeClr val="tx1"/>
                </a:solidFill>
              </a:rPr>
              <a:t>Verdicts with sources and dates, a PDF export, the buyer's decision.</a:t>
            </a:r>
            <a:endParaRPr lang="en-US" sz="1400" dirty="0"/>
          </a:p>
        </p:txBody>
      </p:sp>
      <p:sp>
        <p:nvSpPr>
          <p:cNvPr id="32" name="Shape 25"/>
          <p:cNvSpPr/>
          <p:nvPr/>
        </p:nvSpPr>
        <p:spPr>
          <a:xfrm>
            <a:off x="640080" y="5120640"/>
            <a:ext cx="10927080" cy="960120"/>
          </a:xfrm>
          <a:prstGeom prst="roundRect">
            <a:avLst>
              <a:gd name="adj" fmla="val 11429"/>
            </a:avLst>
          </a:prstGeom>
          <a:solidFill>
            <a:schemeClr val="accent1">
              <a:alpha val="12000"/>
            </a:schemeClr>
          </a:solidFill>
          <a:ln/>
        </p:spPr>
      </p:sp>
      <p:sp>
        <p:nvSpPr>
          <p:cNvPr id="33" name="Text 26"/>
          <p:cNvSpPr txBox="1"/>
          <p:nvPr/>
        </p:nvSpPr>
        <p:spPr>
          <a:xfrm>
            <a:off x="1005840" y="5120640"/>
            <a:ext cx="10241280" cy="960120"/>
          </a:xfrm>
          <a:prstGeom prst="rect">
            <a:avLst/>
          </a:prstGeom>
          <a:noFill/>
          <a:ln/>
        </p:spPr>
        <p:txBody>
          <a:bodyPr wrap="square" lIns="0" tIns="0" rIns="0" bIns="0" rtlCol="0" anchor="ctr"/>
          <a:lstStyle/>
          <a:p>
            <a:pPr indent="0" marL="0">
              <a:buNone/>
            </a:pPr>
            <a:r>
              <a:rPr lang="en-US" sz="1600" dirty="0">
                <a:solidFill>
                  <a:schemeClr val="tx2"/>
                </a:solidFill>
              </a:rPr>
              <a:t>Runs on one laptop. Cases are private to the signed-in buyer. Evidence and verdicts stay on the machine; only the chat text goes to a hosted free model, and the screen says which model is in use.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Honest by construction</a:t>
            </a:r>
            <a:endParaRPr lang="en-US" sz="3400" dirty="0"/>
          </a:p>
        </p:txBody>
      </p:sp>
      <p:sp>
        <p:nvSpPr>
          <p:cNvPr id="3" name="Shape 1"/>
          <p:cNvSpPr/>
          <p:nvPr/>
        </p:nvSpPr>
        <p:spPr>
          <a:xfrm>
            <a:off x="640080" y="1554480"/>
            <a:ext cx="5349240" cy="2011680"/>
          </a:xfrm>
          <a:prstGeom prst="roundRect">
            <a:avLst>
              <a:gd name="adj" fmla="val 5455"/>
            </a:avLst>
          </a:prstGeom>
          <a:solidFill>
            <a:schemeClr val="bg2"/>
          </a:solidFill>
          <a:ln/>
        </p:spPr>
      </p:sp>
      <p:sp>
        <p:nvSpPr>
          <p:cNvPr id="4" name="dot-FiLock"/>
          <p:cNvSpPr/>
          <p:nvPr/>
        </p:nvSpPr>
        <p:spPr>
          <a:xfrm>
            <a:off x="960120" y="1920240"/>
            <a:ext cx="731520" cy="731520"/>
          </a:xfrm>
          <a:prstGeom prst="ellipse">
            <a:avLst/>
          </a:prstGeom>
          <a:solidFill>
            <a:schemeClr val="accent1"/>
          </a:solidFill>
          <a:ln/>
        </p:spPr>
      </p:sp>
      <p:pic>
        <p:nvPicPr>
          <p:cNvPr id="5" name="Image 0" descr="FiLock">    </p:cNvPr>
          <p:cNvPicPr>
            <a:picLocks noChangeAspect="1"/>
          </p:cNvPicPr>
          <p:nvPr/>
        </p:nvPicPr>
        <p:blipFill>
          <a:blip r:embed="rId1"/>
          <a:stretch>
            <a:fillRect/>
          </a:stretch>
        </p:blipFill>
        <p:spPr>
          <a:xfrm>
            <a:off x="1121054" y="2081174"/>
            <a:ext cx="409651" cy="409651"/>
          </a:xfrm>
          <a:prstGeom prst="rect">
            <a:avLst/>
          </a:prstGeom>
        </p:spPr>
      </p:pic>
      <p:sp>
        <p:nvSpPr>
          <p:cNvPr id="6" name="Text 3"/>
          <p:cNvSpPr txBox="1"/>
          <p:nvPr/>
        </p:nvSpPr>
        <p:spPr>
          <a:xfrm>
            <a:off x="1965960" y="1874520"/>
            <a:ext cx="3749040" cy="457200"/>
          </a:xfrm>
          <a:prstGeom prst="rect">
            <a:avLst/>
          </a:prstGeom>
          <a:noFill/>
          <a:ln/>
        </p:spPr>
        <p:txBody>
          <a:bodyPr wrap="square" lIns="0" tIns="0" rIns="0" bIns="0" rtlCol="0" anchor="t"/>
          <a:lstStyle/>
          <a:p>
            <a:pPr indent="0" marL="0">
              <a:buNone/>
            </a:pPr>
            <a:r>
              <a:rPr lang="en-US" sz="2000" b="1" dirty="0">
                <a:solidFill>
                  <a:schemeClr val="tx2"/>
                </a:solidFill>
              </a:rPr>
              <a:t>The assistant confirms nothing</a:t>
            </a:r>
            <a:endParaRPr lang="en-US" sz="2000" dirty="0"/>
          </a:p>
        </p:txBody>
      </p:sp>
      <p:sp>
        <p:nvSpPr>
          <p:cNvPr id="7" name="Text 4"/>
          <p:cNvSpPr txBox="1"/>
          <p:nvPr/>
        </p:nvSpPr>
        <p:spPr>
          <a:xfrm>
            <a:off x="1965960" y="2468880"/>
            <a:ext cx="3749040" cy="1097280"/>
          </a:xfrm>
          <a:prstGeom prst="rect">
            <a:avLst/>
          </a:prstGeom>
          <a:noFill/>
          <a:ln/>
        </p:spPr>
        <p:txBody>
          <a:bodyPr wrap="square" lIns="0" tIns="0" rIns="0" bIns="0" rtlCol="0" anchor="t"/>
          <a:lstStyle/>
          <a:p>
            <a:pPr indent="0" marL="0">
              <a:buNone/>
            </a:pPr>
            <a:r>
              <a:rPr lang="en-US" sz="1500" dirty="0">
                <a:solidFill>
                  <a:schemeClr val="tx1"/>
                </a:solidFill>
              </a:rPr>
              <a:t>It can open a case, ask a question and explain results. Nothing else.</a:t>
            </a:r>
            <a:endParaRPr lang="en-US" sz="1500" dirty="0"/>
          </a:p>
        </p:txBody>
      </p:sp>
      <p:sp>
        <p:nvSpPr>
          <p:cNvPr id="8" name="Shape 5"/>
          <p:cNvSpPr/>
          <p:nvPr/>
        </p:nvSpPr>
        <p:spPr>
          <a:xfrm>
            <a:off x="6217920" y="1554480"/>
            <a:ext cx="5349240" cy="2011680"/>
          </a:xfrm>
          <a:prstGeom prst="roundRect">
            <a:avLst>
              <a:gd name="adj" fmla="val 5455"/>
            </a:avLst>
          </a:prstGeom>
          <a:solidFill>
            <a:schemeClr val="bg2"/>
          </a:solidFill>
          <a:ln/>
        </p:spPr>
      </p:sp>
      <p:sp>
        <p:nvSpPr>
          <p:cNvPr id="9" name="dot-FiEdit3"/>
          <p:cNvSpPr/>
          <p:nvPr/>
        </p:nvSpPr>
        <p:spPr>
          <a:xfrm>
            <a:off x="6537960" y="1920240"/>
            <a:ext cx="731520" cy="731520"/>
          </a:xfrm>
          <a:prstGeom prst="ellipse">
            <a:avLst/>
          </a:prstGeom>
          <a:solidFill>
            <a:schemeClr val="accent1"/>
          </a:solidFill>
          <a:ln/>
        </p:spPr>
      </p:sp>
      <p:pic>
        <p:nvPicPr>
          <p:cNvPr id="10" name="Image 1" descr="FiEdit3">    </p:cNvPr>
          <p:cNvPicPr>
            <a:picLocks noChangeAspect="1"/>
          </p:cNvPicPr>
          <p:nvPr/>
        </p:nvPicPr>
        <p:blipFill>
          <a:blip r:embed="rId2"/>
          <a:stretch>
            <a:fillRect/>
          </a:stretch>
        </p:blipFill>
        <p:spPr>
          <a:xfrm>
            <a:off x="6698894" y="2081174"/>
            <a:ext cx="409651" cy="409651"/>
          </a:xfrm>
          <a:prstGeom prst="rect">
            <a:avLst/>
          </a:prstGeom>
        </p:spPr>
      </p:pic>
      <p:sp>
        <p:nvSpPr>
          <p:cNvPr id="11" name="Text 7"/>
          <p:cNvSpPr txBox="1"/>
          <p:nvPr/>
        </p:nvSpPr>
        <p:spPr>
          <a:xfrm>
            <a:off x="7543800" y="1874520"/>
            <a:ext cx="3749040" cy="457200"/>
          </a:xfrm>
          <a:prstGeom prst="rect">
            <a:avLst/>
          </a:prstGeom>
          <a:noFill/>
          <a:ln/>
        </p:spPr>
        <p:txBody>
          <a:bodyPr wrap="square" lIns="0" tIns="0" rIns="0" bIns="0" rtlCol="0" anchor="t"/>
          <a:lstStyle/>
          <a:p>
            <a:pPr indent="0" marL="0">
              <a:buNone/>
            </a:pPr>
            <a:r>
              <a:rPr lang="en-US" sz="2000" b="1" dirty="0">
                <a:solidFill>
                  <a:schemeClr val="tx2"/>
                </a:solidFill>
              </a:rPr>
              <a:t>Facts are written by the app</a:t>
            </a:r>
            <a:endParaRPr lang="en-US" sz="2000" dirty="0"/>
          </a:p>
        </p:txBody>
      </p:sp>
      <p:sp>
        <p:nvSpPr>
          <p:cNvPr id="12" name="Text 8"/>
          <p:cNvSpPr txBox="1"/>
          <p:nvPr/>
        </p:nvSpPr>
        <p:spPr>
          <a:xfrm>
            <a:off x="7543800" y="2468880"/>
            <a:ext cx="3749040" cy="1097280"/>
          </a:xfrm>
          <a:prstGeom prst="rect">
            <a:avLst/>
          </a:prstGeom>
          <a:noFill/>
          <a:ln/>
        </p:spPr>
        <p:txBody>
          <a:bodyPr wrap="square" lIns="0" tIns="0" rIns="0" bIns="0" rtlCol="0" anchor="t"/>
          <a:lstStyle/>
          <a:p>
            <a:pPr indent="0" marL="0">
              <a:buNone/>
            </a:pPr>
            <a:r>
              <a:rPr lang="en-US" sz="1500" dirty="0">
                <a:solidFill>
                  <a:schemeClr val="tx1"/>
                </a:solidFill>
              </a:rPr>
              <a:t>Once a case exists, results come from the stored assessment. The model's free text never reaches the buyer.</a:t>
            </a:r>
            <a:endParaRPr lang="en-US" sz="1500" dirty="0"/>
          </a:p>
        </p:txBody>
      </p:sp>
      <p:sp>
        <p:nvSpPr>
          <p:cNvPr id="13" name="Shape 9"/>
          <p:cNvSpPr/>
          <p:nvPr/>
        </p:nvSpPr>
        <p:spPr>
          <a:xfrm>
            <a:off x="640080" y="3794760"/>
            <a:ext cx="5349240" cy="2011680"/>
          </a:xfrm>
          <a:prstGeom prst="roundRect">
            <a:avLst>
              <a:gd name="adj" fmla="val 5455"/>
            </a:avLst>
          </a:prstGeom>
          <a:solidFill>
            <a:schemeClr val="bg2"/>
          </a:solidFill>
          <a:ln/>
        </p:spPr>
      </p:sp>
      <p:sp>
        <p:nvSpPr>
          <p:cNvPr id="14" name="dot-FiHelpCircle"/>
          <p:cNvSpPr/>
          <p:nvPr/>
        </p:nvSpPr>
        <p:spPr>
          <a:xfrm>
            <a:off x="960120" y="4160520"/>
            <a:ext cx="731520" cy="731520"/>
          </a:xfrm>
          <a:prstGeom prst="ellipse">
            <a:avLst/>
          </a:prstGeom>
          <a:solidFill>
            <a:schemeClr val="accent1"/>
          </a:solidFill>
          <a:ln/>
        </p:spPr>
      </p:sp>
      <p:pic>
        <p:nvPicPr>
          <p:cNvPr id="15" name="Image 2" descr="FiHelpCircle">    </p:cNvPr>
          <p:cNvPicPr>
            <a:picLocks noChangeAspect="1"/>
          </p:cNvPicPr>
          <p:nvPr/>
        </p:nvPicPr>
        <p:blipFill>
          <a:blip r:embed="rId3"/>
          <a:stretch>
            <a:fillRect/>
          </a:stretch>
        </p:blipFill>
        <p:spPr>
          <a:xfrm>
            <a:off x="1121054" y="4321454"/>
            <a:ext cx="409651" cy="409651"/>
          </a:xfrm>
          <a:prstGeom prst="rect">
            <a:avLst/>
          </a:prstGeom>
        </p:spPr>
      </p:pic>
      <p:sp>
        <p:nvSpPr>
          <p:cNvPr id="16" name="Text 11"/>
          <p:cNvSpPr txBox="1"/>
          <p:nvPr/>
        </p:nvSpPr>
        <p:spPr>
          <a:xfrm>
            <a:off x="1965960" y="4114800"/>
            <a:ext cx="3749040" cy="457200"/>
          </a:xfrm>
          <a:prstGeom prst="rect">
            <a:avLst/>
          </a:prstGeom>
          <a:noFill/>
          <a:ln/>
        </p:spPr>
        <p:txBody>
          <a:bodyPr wrap="square" lIns="0" tIns="0" rIns="0" bIns="0" rtlCol="0" anchor="t"/>
          <a:lstStyle/>
          <a:p>
            <a:pPr indent="0" marL="0">
              <a:buNone/>
            </a:pPr>
            <a:r>
              <a:rPr lang="en-US" sz="2000" b="1" dirty="0">
                <a:solidFill>
                  <a:schemeClr val="tx2"/>
                </a:solidFill>
              </a:rPr>
              <a:t>Gaps stay gaps</a:t>
            </a:r>
            <a:endParaRPr lang="en-US" sz="2000" dirty="0"/>
          </a:p>
        </p:txBody>
      </p:sp>
      <p:sp>
        <p:nvSpPr>
          <p:cNvPr id="17" name="Text 12"/>
          <p:cNvSpPr txBox="1"/>
          <p:nvPr/>
        </p:nvSpPr>
        <p:spPr>
          <a:xfrm>
            <a:off x="1965960" y="4709160"/>
            <a:ext cx="3749040" cy="1097280"/>
          </a:xfrm>
          <a:prstGeom prst="rect">
            <a:avLst/>
          </a:prstGeom>
          <a:noFill/>
          <a:ln/>
        </p:spPr>
        <p:txBody>
          <a:bodyPr wrap="square" lIns="0" tIns="0" rIns="0" bIns="0" rtlCol="0" anchor="t"/>
          <a:lstStyle/>
          <a:p>
            <a:pPr indent="0" marL="0">
              <a:buNone/>
            </a:pPr>
            <a:r>
              <a:rPr lang="en-US" sz="1500" dirty="0">
                <a:solidFill>
                  <a:schemeClr val="tx1"/>
                </a:solidFill>
              </a:rPr>
              <a:t>Missing or ambiguous evidence is unproven. No guessing, no rounding up.</a:t>
            </a:r>
            <a:endParaRPr lang="en-US" sz="1500" dirty="0"/>
          </a:p>
        </p:txBody>
      </p:sp>
      <p:sp>
        <p:nvSpPr>
          <p:cNvPr id="18" name="Shape 13"/>
          <p:cNvSpPr/>
          <p:nvPr/>
        </p:nvSpPr>
        <p:spPr>
          <a:xfrm>
            <a:off x="6217920" y="3794760"/>
            <a:ext cx="5349240" cy="2011680"/>
          </a:xfrm>
          <a:prstGeom prst="roundRect">
            <a:avLst>
              <a:gd name="adj" fmla="val 5455"/>
            </a:avLst>
          </a:prstGeom>
          <a:solidFill>
            <a:schemeClr val="bg2"/>
          </a:solidFill>
          <a:ln/>
        </p:spPr>
      </p:sp>
      <p:sp>
        <p:nvSpPr>
          <p:cNvPr id="19" name="dot-FiSlash"/>
          <p:cNvSpPr/>
          <p:nvPr/>
        </p:nvSpPr>
        <p:spPr>
          <a:xfrm>
            <a:off x="6537960" y="4160520"/>
            <a:ext cx="731520" cy="731520"/>
          </a:xfrm>
          <a:prstGeom prst="ellipse">
            <a:avLst/>
          </a:prstGeom>
          <a:solidFill>
            <a:schemeClr val="accent1"/>
          </a:solidFill>
          <a:ln/>
        </p:spPr>
      </p:sp>
      <p:pic>
        <p:nvPicPr>
          <p:cNvPr id="20" name="Image 3" descr="FiSlash">    </p:cNvPr>
          <p:cNvPicPr>
            <a:picLocks noChangeAspect="1"/>
          </p:cNvPicPr>
          <p:nvPr/>
        </p:nvPicPr>
        <p:blipFill>
          <a:blip r:embed="rId4"/>
          <a:stretch>
            <a:fillRect/>
          </a:stretch>
        </p:blipFill>
        <p:spPr>
          <a:xfrm>
            <a:off x="6698894" y="4321454"/>
            <a:ext cx="409651" cy="409651"/>
          </a:xfrm>
          <a:prstGeom prst="rect">
            <a:avLst/>
          </a:prstGeom>
        </p:spPr>
      </p:pic>
      <p:sp>
        <p:nvSpPr>
          <p:cNvPr id="21" name="Text 15"/>
          <p:cNvSpPr txBox="1"/>
          <p:nvPr/>
        </p:nvSpPr>
        <p:spPr>
          <a:xfrm>
            <a:off x="7543800" y="4114800"/>
            <a:ext cx="3749040" cy="457200"/>
          </a:xfrm>
          <a:prstGeom prst="rect">
            <a:avLst/>
          </a:prstGeom>
          <a:noFill/>
          <a:ln/>
        </p:spPr>
        <p:txBody>
          <a:bodyPr wrap="square" lIns="0" tIns="0" rIns="0" bIns="0" rtlCol="0" anchor="t"/>
          <a:lstStyle/>
          <a:p>
            <a:pPr indent="0" marL="0">
              <a:buNone/>
            </a:pPr>
            <a:r>
              <a:rPr lang="en-US" sz="2000" b="1" dirty="0">
                <a:solidFill>
                  <a:schemeClr val="tx2"/>
                </a:solidFill>
              </a:rPr>
              <a:t>No shortcuts</a:t>
            </a:r>
            <a:endParaRPr lang="en-US" sz="2000" dirty="0"/>
          </a:p>
        </p:txBody>
      </p:sp>
      <p:sp>
        <p:nvSpPr>
          <p:cNvPr id="22" name="Text 16"/>
          <p:cNvSpPr txBox="1"/>
          <p:nvPr/>
        </p:nvSpPr>
        <p:spPr>
          <a:xfrm>
            <a:off x="7543800" y="4709160"/>
            <a:ext cx="3749040" cy="1097280"/>
          </a:xfrm>
          <a:prstGeom prst="rect">
            <a:avLst/>
          </a:prstGeom>
          <a:noFill/>
          <a:ln/>
        </p:spPr>
        <p:txBody>
          <a:bodyPr wrap="square" lIns="0" tIns="0" rIns="0" bIns="0" rtlCol="0" anchor="t"/>
          <a:lstStyle/>
          <a:p>
            <a:pPr indent="0" marL="0">
              <a:buNone/>
            </a:pPr>
            <a:r>
              <a:rPr lang="en-US" sz="1500" dirty="0">
                <a:solidFill>
                  <a:schemeClr val="tx1"/>
                </a:solidFill>
              </a:rPr>
              <a:t>It never contacts a supplier, never solves a CAPTCHA and never uses seeded demo data.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What it can prove today, and what it cannot</a:t>
            </a:r>
            <a:endParaRPr lang="en-US" sz="3400" dirty="0"/>
          </a:p>
        </p:txBody>
      </p:sp>
      <p:sp>
        <p:nvSpPr>
          <p:cNvPr id="3" name="Shape 1"/>
          <p:cNvSpPr/>
          <p:nvPr/>
        </p:nvSpPr>
        <p:spPr>
          <a:xfrm>
            <a:off x="640080" y="1554480"/>
            <a:ext cx="5349240" cy="3840480"/>
          </a:xfrm>
          <a:prstGeom prst="roundRect">
            <a:avLst>
              <a:gd name="adj" fmla="val 2857"/>
            </a:avLst>
          </a:prstGeom>
          <a:solidFill>
            <a:schemeClr val="accent3">
              <a:alpha val="10000"/>
            </a:schemeClr>
          </a:solidFill>
          <a:ln/>
        </p:spPr>
      </p:sp>
      <p:sp>
        <p:nvSpPr>
          <p:cNvPr id="4" name="dot-FiCheck"/>
          <p:cNvSpPr/>
          <p:nvPr/>
        </p:nvSpPr>
        <p:spPr>
          <a:xfrm>
            <a:off x="960120" y="1828800"/>
            <a:ext cx="594360" cy="594360"/>
          </a:xfrm>
          <a:prstGeom prst="ellipse">
            <a:avLst/>
          </a:prstGeom>
          <a:solidFill>
            <a:schemeClr val="accent3"/>
          </a:solidFill>
          <a:ln/>
        </p:spPr>
      </p:sp>
      <p:pic>
        <p:nvPicPr>
          <p:cNvPr id="5" name="Image 0" descr="FiCheck">    </p:cNvPr>
          <p:cNvPicPr>
            <a:picLocks noChangeAspect="1"/>
          </p:cNvPicPr>
          <p:nvPr/>
        </p:nvPicPr>
        <p:blipFill>
          <a:blip r:embed="rId1"/>
          <a:stretch>
            <a:fillRect/>
          </a:stretch>
        </p:blipFill>
        <p:spPr>
          <a:xfrm>
            <a:off x="1090879" y="1959559"/>
            <a:ext cx="332842" cy="332842"/>
          </a:xfrm>
          <a:prstGeom prst="rect">
            <a:avLst/>
          </a:prstGeom>
        </p:spPr>
      </p:pic>
      <p:sp>
        <p:nvSpPr>
          <p:cNvPr id="6" name="Text 3"/>
          <p:cNvSpPr txBox="1"/>
          <p:nvPr/>
        </p:nvSpPr>
        <p:spPr>
          <a:xfrm>
            <a:off x="1737360" y="1874520"/>
            <a:ext cx="365760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Provable now</a:t>
            </a:r>
            <a:endParaRPr lang="en-US" sz="2400" dirty="0"/>
          </a:p>
        </p:txBody>
      </p:sp>
      <p:sp>
        <p:nvSpPr>
          <p:cNvPr id="7" name="Text 4"/>
          <p:cNvSpPr txBox="1"/>
          <p:nvPr/>
        </p:nvSpPr>
        <p:spPr>
          <a:xfrm>
            <a:off x="1005840" y="2743200"/>
            <a:ext cx="4617720" cy="2468880"/>
          </a:xfrm>
          <a:prstGeom prst="rect">
            <a:avLst/>
          </a:prstGeom>
          <a:noFill/>
          <a:ln/>
        </p:spPr>
        <p:txBody>
          <a:bodyPr wrap="square" lIns="0" tIns="0" rIns="0" bIns="0" rtlCol="0" anchor="t"/>
          <a:lstStyle/>
          <a:p>
            <a:pPr indent="0" marL="0">
              <a:spcAft>
                <a:spcPts val="1200"/>
              </a:spcAft>
              <a:buNone/>
            </a:pPr>
            <a:r>
              <a:rPr lang="en-US" sz="1800" b="1" dirty="0">
                <a:solidFill>
                  <a:schemeClr val="tx1"/>
                </a:solidFill>
              </a:rPr>
              <a:t>Held the BIS licence for IS 9473:2002 on 27 Aug 2020</a:t>
            </a:r>
            <a:endParaRPr lang="en-US" sz="1800" dirty="0"/>
          </a:p>
          <a:p>
            <a:pPr indent="0" marL="0">
              <a:spcAft>
                <a:spcPts val="1200"/>
              </a:spcAft>
              <a:buNone/>
            </a:pPr>
            <a:r>
              <a:rPr lang="en-US" sz="1800" dirty="0">
                <a:solidFill>
                  <a:schemeClr val="tx1"/>
                </a:solidFill>
              </a:rPr>
              <a:t>Source: the imported BIS FFP2 licence list (cutoff 27 Aug 2020, 29 rows).</a:t>
            </a:r>
            <a:endParaRPr lang="en-US" sz="1800" dirty="0"/>
          </a:p>
          <a:p>
            <a:pPr indent="0" marL="0">
              <a:spcAft>
                <a:spcPts val="1200"/>
              </a:spcAft>
              <a:buNone/>
            </a:pPr>
            <a:r>
              <a:rPr lang="en-US" sz="1800" dirty="0">
                <a:solidFill>
                  <a:schemeClr val="tx1"/>
                </a:solidFill>
              </a:rPr>
              <a:t>Real runs on 20 Oct 2026: 4 of 4 suppliers proven.</a:t>
            </a:r>
            <a:endParaRPr lang="en-US" sz="1800" dirty="0"/>
          </a:p>
        </p:txBody>
      </p:sp>
      <p:sp>
        <p:nvSpPr>
          <p:cNvPr id="8" name="Shape 5"/>
          <p:cNvSpPr/>
          <p:nvPr/>
        </p:nvSpPr>
        <p:spPr>
          <a:xfrm>
            <a:off x="6217920" y="1554480"/>
            <a:ext cx="5349240" cy="3840480"/>
          </a:xfrm>
          <a:prstGeom prst="roundRect">
            <a:avLst>
              <a:gd name="adj" fmla="val 2857"/>
            </a:avLst>
          </a:prstGeom>
          <a:solidFill>
            <a:schemeClr val="accent2">
              <a:alpha val="10000"/>
            </a:schemeClr>
          </a:solidFill>
          <a:ln/>
        </p:spPr>
      </p:sp>
      <p:sp>
        <p:nvSpPr>
          <p:cNvPr id="9" name="dot-FiHelpCircle"/>
          <p:cNvSpPr/>
          <p:nvPr/>
        </p:nvSpPr>
        <p:spPr>
          <a:xfrm>
            <a:off x="6537960" y="1828800"/>
            <a:ext cx="594360" cy="594360"/>
          </a:xfrm>
          <a:prstGeom prst="ellipse">
            <a:avLst/>
          </a:prstGeom>
          <a:solidFill>
            <a:schemeClr val="accent2"/>
          </a:solidFill>
          <a:ln/>
        </p:spPr>
      </p:sp>
      <p:pic>
        <p:nvPicPr>
          <p:cNvPr id="10" name="Image 1" descr="FiHelpCircle">    </p:cNvPr>
          <p:cNvPicPr>
            <a:picLocks noChangeAspect="1"/>
          </p:cNvPicPr>
          <p:nvPr/>
        </p:nvPicPr>
        <p:blipFill>
          <a:blip r:embed="rId2"/>
          <a:stretch>
            <a:fillRect/>
          </a:stretch>
        </p:blipFill>
        <p:spPr>
          <a:xfrm>
            <a:off x="6668719" y="1959559"/>
            <a:ext cx="332842" cy="332842"/>
          </a:xfrm>
          <a:prstGeom prst="rect">
            <a:avLst/>
          </a:prstGeom>
        </p:spPr>
      </p:pic>
      <p:sp>
        <p:nvSpPr>
          <p:cNvPr id="11" name="Text 7"/>
          <p:cNvSpPr txBox="1"/>
          <p:nvPr/>
        </p:nvSpPr>
        <p:spPr>
          <a:xfrm>
            <a:off x="7315200" y="1874520"/>
            <a:ext cx="402336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Not provable yet</a:t>
            </a:r>
            <a:endParaRPr lang="en-US" sz="2400" dirty="0"/>
          </a:p>
        </p:txBody>
      </p:sp>
      <p:sp>
        <p:nvSpPr>
          <p:cNvPr id="12" name="Text 8"/>
          <p:cNvSpPr txBox="1"/>
          <p:nvPr/>
        </p:nvSpPr>
        <p:spPr>
          <a:xfrm>
            <a:off x="6583680" y="2743200"/>
            <a:ext cx="461772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Manufacturer: a supplier's own website is self-report, so the engine refuses it.</a:t>
            </a:r>
            <a:endParaRPr lang="en-US" sz="1600" dirty="0"/>
          </a:p>
          <a:p>
            <a:pPr marL="342900" indent="-342900">
              <a:spcAft>
                <a:spcPts val="1000"/>
              </a:spcAft>
              <a:buSzPct val="100000"/>
              <a:buChar char="•"/>
            </a:pPr>
            <a:r>
              <a:rPr lang="en-US" sz="1600" dirty="0">
                <a:solidFill>
                  <a:schemeClr val="tx1"/>
                </a:solidFill>
              </a:rPr>
              <a:t>Licence valid today: the export is historical and the live BIS search is CAPTCHA-protected.</a:t>
            </a:r>
            <a:endParaRPr lang="en-US" sz="1600" dirty="0"/>
          </a:p>
          <a:p>
            <a:pPr marL="342900" indent="-342900">
              <a:spcAft>
                <a:spcPts val="1000"/>
              </a:spcAft>
              <a:buSzPct val="100000"/>
              <a:buChar char="•"/>
            </a:pPr>
            <a:r>
              <a:rPr lang="en-US" sz="1600" dirty="0">
                <a:solidFill>
                  <a:schemeClr val="tx1"/>
                </a:solidFill>
              </a:rPr>
              <a:t>Legal existence and current GST: no free, attributable source wired in.</a:t>
            </a:r>
            <a:endParaRPr lang="en-US" sz="1600" dirty="0"/>
          </a:p>
          <a:p>
            <a:pPr marL="342900" indent="-342900">
              <a:spcAft>
                <a:spcPts val="1000"/>
              </a:spcAft>
              <a:buSzPct val="100000"/>
              <a:buChar char="•"/>
            </a:pPr>
            <a:r>
              <a:rPr lang="en-US" sz="1600" dirty="0">
                <a:solidFill>
                  <a:schemeClr val="tx1"/>
                </a:solidFill>
              </a:rPr>
              <a:t>Contradicted: no source can refute a claim yet.</a:t>
            </a:r>
            <a:endParaRPr lang="en-US" sz="1600" dirty="0"/>
          </a:p>
        </p:txBody>
      </p:sp>
      <p:sp>
        <p:nvSpPr>
          <p:cNvPr id="13" name="Text 9"/>
          <p:cNvSpPr txBox="1"/>
          <p:nvPr/>
        </p:nvSpPr>
        <p:spPr>
          <a:xfrm>
            <a:off x="640080" y="5669280"/>
            <a:ext cx="10881360" cy="411480"/>
          </a:xfrm>
          <a:prstGeom prst="rect">
            <a:avLst/>
          </a:prstGeom>
          <a:noFill/>
          <a:ln/>
        </p:spPr>
        <p:txBody>
          <a:bodyPr wrap="square" lIns="0" tIns="0" rIns="0" bIns="0" rtlCol="0" anchor="t"/>
          <a:lstStyle/>
          <a:p>
            <a:pPr indent="0" marL="0">
              <a:buNone/>
            </a:pPr>
            <a:r>
              <a:rPr lang="en-US" sz="1800" b="1" dirty="0">
                <a:solidFill>
                  <a:schemeClr val="accent1"/>
                </a:solidFill>
              </a:rPr>
              <a:t>If the buyer requires “valid today”, no supplier qualifies. That is by design.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What we have measured so far</a:t>
            </a:r>
            <a:endParaRPr lang="en-US" sz="3400" dirty="0"/>
          </a:p>
        </p:txBody>
      </p:sp>
      <p:sp>
        <p:nvSpPr>
          <p:cNvPr id="3" name="Shape 1"/>
          <p:cNvSpPr/>
          <p:nvPr/>
        </p:nvSpPr>
        <p:spPr>
          <a:xfrm>
            <a:off x="640080" y="1554480"/>
            <a:ext cx="2514600" cy="2286000"/>
          </a:xfrm>
          <a:prstGeom prst="roundRect">
            <a:avLst>
              <a:gd name="adj" fmla="val 4800"/>
            </a:avLst>
          </a:prstGeom>
          <a:solidFill>
            <a:schemeClr val="bg2"/>
          </a:solidFill>
          <a:ln/>
        </p:spPr>
      </p:sp>
      <p:sp>
        <p:nvSpPr>
          <p:cNvPr id="4" name="Text 2"/>
          <p:cNvSpPr txBox="1"/>
          <p:nvPr/>
        </p:nvSpPr>
        <p:spPr>
          <a:xfrm>
            <a:off x="914400" y="1828800"/>
            <a:ext cx="1965960"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~5 s</a:t>
            </a:r>
            <a:endParaRPr lang="en-US" sz="4400" dirty="0"/>
          </a:p>
        </p:txBody>
      </p:sp>
      <p:sp>
        <p:nvSpPr>
          <p:cNvPr id="5" name="Text 3"/>
          <p:cNvSpPr txBox="1"/>
          <p:nvPr/>
        </p:nvSpPr>
        <p:spPr>
          <a:xfrm>
            <a:off x="914400" y="2788920"/>
            <a:ext cx="1965960" cy="914400"/>
          </a:xfrm>
          <a:prstGeom prst="rect">
            <a:avLst/>
          </a:prstGeom>
          <a:noFill/>
          <a:ln/>
        </p:spPr>
        <p:txBody>
          <a:bodyPr wrap="square" lIns="0" tIns="0" rIns="0" bIns="0" rtlCol="0" anchor="t"/>
          <a:lstStyle/>
          <a:p>
            <a:pPr indent="0" marL="0">
              <a:buNone/>
            </a:pPr>
            <a:r>
              <a:rPr lang="en-US" sz="1600" dirty="0">
                <a:solidFill>
                  <a:schemeClr val="tx1"/>
                </a:solidFill>
              </a:rPr>
              <a:t>to create a case from a pasted message</a:t>
            </a:r>
            <a:endParaRPr lang="en-US" sz="1600" dirty="0"/>
          </a:p>
        </p:txBody>
      </p:sp>
      <p:sp>
        <p:nvSpPr>
          <p:cNvPr id="6" name="Shape 4"/>
          <p:cNvSpPr/>
          <p:nvPr/>
        </p:nvSpPr>
        <p:spPr>
          <a:xfrm>
            <a:off x="3429000" y="1554480"/>
            <a:ext cx="2514600" cy="2286000"/>
          </a:xfrm>
          <a:prstGeom prst="roundRect">
            <a:avLst>
              <a:gd name="adj" fmla="val 4800"/>
            </a:avLst>
          </a:prstGeom>
          <a:solidFill>
            <a:schemeClr val="bg2"/>
          </a:solidFill>
          <a:ln/>
        </p:spPr>
      </p:sp>
      <p:sp>
        <p:nvSpPr>
          <p:cNvPr id="7" name="Text 5"/>
          <p:cNvSpPr txBox="1"/>
          <p:nvPr/>
        </p:nvSpPr>
        <p:spPr>
          <a:xfrm>
            <a:off x="3703320" y="1828800"/>
            <a:ext cx="1965960"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257 s</a:t>
            </a:r>
            <a:endParaRPr lang="en-US" sz="4400" dirty="0"/>
          </a:p>
        </p:txBody>
      </p:sp>
      <p:sp>
        <p:nvSpPr>
          <p:cNvPr id="8" name="Text 6"/>
          <p:cNvSpPr txBox="1"/>
          <p:nvPr/>
        </p:nvSpPr>
        <p:spPr>
          <a:xfrm>
            <a:off x="3703320" y="2788920"/>
            <a:ext cx="1965960" cy="914400"/>
          </a:xfrm>
          <a:prstGeom prst="rect">
            <a:avLst/>
          </a:prstGeom>
          <a:noFill/>
          <a:ln/>
        </p:spPr>
        <p:txBody>
          <a:bodyPr wrap="square" lIns="0" tIns="0" rIns="0" bIns="0" rtlCol="0" anchor="t"/>
          <a:lstStyle/>
          <a:p>
            <a:pPr indent="0" marL="0">
              <a:buNone/>
            </a:pPr>
            <a:r>
              <a:rPr lang="en-US" sz="1600" dirty="0">
                <a:solidFill>
                  <a:schemeClr val="tx1"/>
                </a:solidFill>
              </a:rPr>
              <a:t>live collection, four suppliers</a:t>
            </a:r>
            <a:endParaRPr lang="en-US" sz="1600" dirty="0"/>
          </a:p>
        </p:txBody>
      </p:sp>
      <p:sp>
        <p:nvSpPr>
          <p:cNvPr id="9" name="Shape 7"/>
          <p:cNvSpPr/>
          <p:nvPr/>
        </p:nvSpPr>
        <p:spPr>
          <a:xfrm>
            <a:off x="6217920" y="1554480"/>
            <a:ext cx="2514600" cy="2286000"/>
          </a:xfrm>
          <a:prstGeom prst="roundRect">
            <a:avLst>
              <a:gd name="adj" fmla="val 4800"/>
            </a:avLst>
          </a:prstGeom>
          <a:solidFill>
            <a:schemeClr val="bg2"/>
          </a:solidFill>
          <a:ln/>
        </p:spPr>
      </p:sp>
      <p:sp>
        <p:nvSpPr>
          <p:cNvPr id="10" name="Text 8"/>
          <p:cNvSpPr txBox="1"/>
          <p:nvPr/>
        </p:nvSpPr>
        <p:spPr>
          <a:xfrm>
            <a:off x="6492240" y="1828800"/>
            <a:ext cx="1965960"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4 of 4</a:t>
            </a:r>
            <a:endParaRPr lang="en-US" sz="4400" dirty="0"/>
          </a:p>
        </p:txBody>
      </p:sp>
      <p:sp>
        <p:nvSpPr>
          <p:cNvPr id="11" name="Text 9"/>
          <p:cNvSpPr txBox="1"/>
          <p:nvPr/>
        </p:nvSpPr>
        <p:spPr>
          <a:xfrm>
            <a:off x="6492240" y="2788920"/>
            <a:ext cx="1965960" cy="914400"/>
          </a:xfrm>
          <a:prstGeom prst="rect">
            <a:avLst/>
          </a:prstGeom>
          <a:noFill/>
          <a:ln/>
        </p:spPr>
        <p:txBody>
          <a:bodyPr wrap="square" lIns="0" tIns="0" rIns="0" bIns="0" rtlCol="0" anchor="t"/>
          <a:lstStyle/>
          <a:p>
            <a:pPr indent="0" marL="0">
              <a:buNone/>
            </a:pPr>
            <a:r>
              <a:rPr lang="en-US" sz="1600" dirty="0">
                <a:solidFill>
                  <a:schemeClr val="tx1"/>
                </a:solidFill>
              </a:rPr>
              <a:t>suppliers proven for the BIS licence claim</a:t>
            </a:r>
            <a:endParaRPr lang="en-US" sz="1600" dirty="0"/>
          </a:p>
        </p:txBody>
      </p:sp>
      <p:sp>
        <p:nvSpPr>
          <p:cNvPr id="12" name="Shape 10"/>
          <p:cNvSpPr/>
          <p:nvPr/>
        </p:nvSpPr>
        <p:spPr>
          <a:xfrm>
            <a:off x="9006840" y="1554480"/>
            <a:ext cx="2514600" cy="2286000"/>
          </a:xfrm>
          <a:prstGeom prst="roundRect">
            <a:avLst>
              <a:gd name="adj" fmla="val 4800"/>
            </a:avLst>
          </a:prstGeom>
          <a:solidFill>
            <a:schemeClr val="bg2"/>
          </a:solidFill>
          <a:ln/>
        </p:spPr>
      </p:sp>
      <p:sp>
        <p:nvSpPr>
          <p:cNvPr id="13" name="Text 11"/>
          <p:cNvSpPr txBox="1"/>
          <p:nvPr/>
        </p:nvSpPr>
        <p:spPr>
          <a:xfrm>
            <a:off x="9281160" y="1828800"/>
            <a:ext cx="1965960"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 to 7 s</a:t>
            </a:r>
            <a:endParaRPr lang="en-US" sz="4400" dirty="0"/>
          </a:p>
        </p:txBody>
      </p:sp>
      <p:sp>
        <p:nvSpPr>
          <p:cNvPr id="14" name="Text 12"/>
          <p:cNvSpPr txBox="1"/>
          <p:nvPr/>
        </p:nvSpPr>
        <p:spPr>
          <a:xfrm>
            <a:off x="9281160" y="2788920"/>
            <a:ext cx="1965960" cy="914400"/>
          </a:xfrm>
          <a:prstGeom prst="rect">
            <a:avLst/>
          </a:prstGeom>
          <a:noFill/>
          <a:ln/>
        </p:spPr>
        <p:txBody>
          <a:bodyPr wrap="square" lIns="0" tIns="0" rIns="0" bIns="0" rtlCol="0" anchor="t"/>
          <a:lstStyle/>
          <a:p>
            <a:pPr indent="0" marL="0">
              <a:buNone/>
            </a:pPr>
            <a:r>
              <a:rPr lang="en-US" sz="1600" dirty="0">
                <a:solidFill>
                  <a:schemeClr val="tx1"/>
                </a:solidFill>
              </a:rPr>
              <a:t>for hosted chat answers</a:t>
            </a:r>
            <a:endParaRPr lang="en-US" sz="1600" dirty="0"/>
          </a:p>
        </p:txBody>
      </p:sp>
      <p:sp>
        <p:nvSpPr>
          <p:cNvPr id="15" name="Shape 13"/>
          <p:cNvSpPr/>
          <p:nvPr/>
        </p:nvSpPr>
        <p:spPr>
          <a:xfrm>
            <a:off x="640080" y="4206240"/>
            <a:ext cx="10927080" cy="1828800"/>
          </a:xfrm>
          <a:prstGeom prst="roundRect">
            <a:avLst>
              <a:gd name="adj" fmla="val 6000"/>
            </a:avLst>
          </a:prstGeom>
          <a:solidFill>
            <a:schemeClr val="accent2">
              <a:alpha val="12000"/>
            </a:schemeClr>
          </a:solidFill>
          <a:ln/>
        </p:spPr>
      </p:sp>
      <p:sp>
        <p:nvSpPr>
          <p:cNvPr id="16" name="Text 14"/>
          <p:cNvSpPr txBox="1"/>
          <p:nvPr/>
        </p:nvSpPr>
        <p:spPr>
          <a:xfrm>
            <a:off x="1005840" y="4434840"/>
            <a:ext cx="10058400" cy="411480"/>
          </a:xfrm>
          <a:prstGeom prst="rect">
            <a:avLst/>
          </a:prstGeom>
          <a:noFill/>
          <a:ln/>
        </p:spPr>
        <p:txBody>
          <a:bodyPr wrap="square" lIns="0" tIns="0" rIns="0" bIns="0" rtlCol="0" anchor="t"/>
          <a:lstStyle/>
          <a:p>
            <a:pPr indent="0" marL="0">
              <a:buNone/>
            </a:pPr>
            <a:r>
              <a:rPr lang="en-US" sz="2000" b="1" dirty="0">
                <a:solidFill>
                  <a:schemeClr val="tx2"/>
                </a:solidFill>
              </a:rPr>
              <a:t>Not measured yet, and not claimed</a:t>
            </a:r>
            <a:endParaRPr lang="en-US" sz="2000" dirty="0"/>
          </a:p>
        </p:txBody>
      </p:sp>
      <p:sp>
        <p:nvSpPr>
          <p:cNvPr id="17" name="Text 15"/>
          <p:cNvSpPr txBox="1"/>
          <p:nvPr/>
        </p:nvSpPr>
        <p:spPr>
          <a:xfrm>
            <a:off x="1005840" y="4937760"/>
            <a:ext cx="10149840" cy="914400"/>
          </a:xfrm>
          <a:prstGeom prst="rect">
            <a:avLst/>
          </a:prstGeom>
          <a:noFill/>
          <a:ln/>
        </p:spPr>
        <p:txBody>
          <a:bodyPr wrap="square" lIns="0" tIns="0" rIns="0" bIns="0" rtlCol="0" anchor="t"/>
          <a:lstStyle/>
          <a:p>
            <a:pPr indent="0" marL="0">
              <a:buNone/>
            </a:pPr>
            <a:r>
              <a:rPr lang="en-US" sz="1700" dirty="0">
                <a:solidFill>
                  <a:schemeClr val="tx1"/>
                </a:solidFill>
              </a:rPr>
              <a:t>Accuracy against human auditors. Timing for a 30-supplier case. Voice accuracy with a real microphone. An accessibility audit of the new layout.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t"/>
          <a:lstStyle/>
          <a:p>
            <a:pPr algn="l" indent="0" marL="0">
              <a:buNone/>
            </a:pPr>
            <a:r>
              <a:rPr lang="en-US" sz="3400" b="1" dirty="0">
                <a:solidFill>
                  <a:schemeClr val="tx2"/>
                </a:solidFill>
              </a:rPr>
              <a:t>Where it goes next</a:t>
            </a:r>
            <a:endParaRPr lang="en-US" sz="3400" dirty="0"/>
          </a:p>
        </p:txBody>
      </p:sp>
      <p:sp>
        <p:nvSpPr>
          <p:cNvPr id="3" name="Shape 1"/>
          <p:cNvSpPr/>
          <p:nvPr/>
        </p:nvSpPr>
        <p:spPr>
          <a:xfrm>
            <a:off x="640080" y="1554480"/>
            <a:ext cx="10927080" cy="1188720"/>
          </a:xfrm>
          <a:prstGeom prst="roundRect">
            <a:avLst>
              <a:gd name="adj" fmla="val 9231"/>
            </a:avLst>
          </a:prstGeom>
          <a:solidFill>
            <a:schemeClr val="tx2"/>
          </a:solidFill>
          <a:ln/>
        </p:spPr>
      </p:sp>
      <p:sp>
        <p:nvSpPr>
          <p:cNvPr id="4" name="Text 2"/>
          <p:cNvSpPr txBox="1"/>
          <p:nvPr/>
        </p:nvSpPr>
        <p:spPr>
          <a:xfrm>
            <a:off x="1005840" y="173736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First: make more claims provable</a:t>
            </a:r>
            <a:endParaRPr lang="en-US" sz="2200" dirty="0"/>
          </a:p>
        </p:txBody>
      </p:sp>
      <p:sp>
        <p:nvSpPr>
          <p:cNvPr id="5" name="Text 3"/>
          <p:cNvSpPr txBox="1"/>
          <p:nvPr/>
        </p:nvSpPr>
        <p:spPr>
          <a:xfrm>
            <a:off x="1005840" y="2194560"/>
            <a:ext cx="10149840" cy="457200"/>
          </a:xfrm>
          <a:prstGeom prst="rect">
            <a:avLst/>
          </a:prstGeom>
          <a:noFill/>
          <a:ln/>
        </p:spPr>
        <p:txBody>
          <a:bodyPr wrap="square" lIns="0" tIns="0" rIns="0" bIns="0" rtlCol="0" anchor="t"/>
          <a:lstStyle/>
          <a:p>
            <a:pPr indent="0" marL="0">
              <a:buNone/>
            </a:pPr>
            <a:r>
              <a:rPr lang="en-US" sz="1600" dirty="0">
                <a:solidFill>
                  <a:schemeClr val="accent6"/>
                </a:solidFill>
              </a:rPr>
              <a:t>A certificate route (ISO certificate to issuer record) and a real source that can contradict a claim.</a:t>
            </a:r>
            <a:endParaRPr lang="en-US" sz="1600" dirty="0"/>
          </a:p>
        </p:txBody>
      </p:sp>
      <p:sp>
        <p:nvSpPr>
          <p:cNvPr id="6" name="Text 4"/>
          <p:cNvSpPr txBox="1"/>
          <p:nvPr/>
        </p:nvSpPr>
        <p:spPr>
          <a:xfrm>
            <a:off x="640080" y="3063240"/>
            <a:ext cx="7315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ROADMAP: DRAFTED AS SPECS, NOT BUILT</a:t>
            </a:r>
            <a:endParaRPr lang="en-US" sz="1300" dirty="0"/>
          </a:p>
        </p:txBody>
      </p:sp>
      <p:sp>
        <p:nvSpPr>
          <p:cNvPr id="7" name="Shape 5"/>
          <p:cNvSpPr/>
          <p:nvPr/>
        </p:nvSpPr>
        <p:spPr>
          <a:xfrm>
            <a:off x="640080" y="3474720"/>
            <a:ext cx="3429000" cy="1097280"/>
          </a:xfrm>
          <a:prstGeom prst="roundRect">
            <a:avLst>
              <a:gd name="adj" fmla="val 10000"/>
            </a:avLst>
          </a:prstGeom>
          <a:solidFill>
            <a:schemeClr val="bg2"/>
          </a:solidFill>
          <a:ln/>
        </p:spPr>
      </p:sp>
      <p:sp>
        <p:nvSpPr>
          <p:cNvPr id="8" name="Text 6"/>
          <p:cNvSpPr txBox="1"/>
          <p:nvPr/>
        </p:nvSpPr>
        <p:spPr>
          <a:xfrm>
            <a:off x="914400" y="3657600"/>
            <a:ext cx="2880360" cy="365760"/>
          </a:xfrm>
          <a:prstGeom prst="rect">
            <a:avLst/>
          </a:prstGeom>
          <a:noFill/>
          <a:ln/>
        </p:spPr>
        <p:txBody>
          <a:bodyPr wrap="square" lIns="0" tIns="0" rIns="0" bIns="0" rtlCol="0" anchor="t"/>
          <a:lstStyle/>
          <a:p>
            <a:pPr indent="0" marL="0">
              <a:buNone/>
            </a:pPr>
            <a:r>
              <a:rPr lang="en-US" sz="1800" b="1" dirty="0">
                <a:solidFill>
                  <a:schemeClr val="tx2"/>
                </a:solidFill>
              </a:rPr>
              <a:t>Supplier discovery</a:t>
            </a:r>
            <a:endParaRPr lang="en-US" sz="1800" dirty="0"/>
          </a:p>
        </p:txBody>
      </p:sp>
      <p:sp>
        <p:nvSpPr>
          <p:cNvPr id="9" name="Text 7"/>
          <p:cNvSpPr txBox="1"/>
          <p:nvPr/>
        </p:nvSpPr>
        <p:spPr>
          <a:xfrm>
            <a:off x="914400" y="406908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The agent finds suppliers for the buyer.</a:t>
            </a:r>
            <a:endParaRPr lang="en-US" sz="1400" dirty="0"/>
          </a:p>
        </p:txBody>
      </p:sp>
      <p:sp>
        <p:nvSpPr>
          <p:cNvPr id="10" name="Shape 8"/>
          <p:cNvSpPr/>
          <p:nvPr/>
        </p:nvSpPr>
        <p:spPr>
          <a:xfrm>
            <a:off x="4366260" y="3474720"/>
            <a:ext cx="3429000" cy="1097280"/>
          </a:xfrm>
          <a:prstGeom prst="roundRect">
            <a:avLst>
              <a:gd name="adj" fmla="val 10000"/>
            </a:avLst>
          </a:prstGeom>
          <a:solidFill>
            <a:schemeClr val="bg2"/>
          </a:solidFill>
          <a:ln/>
        </p:spPr>
      </p:sp>
      <p:sp>
        <p:nvSpPr>
          <p:cNvPr id="11" name="Text 9"/>
          <p:cNvSpPr txBox="1"/>
          <p:nvPr/>
        </p:nvSpPr>
        <p:spPr>
          <a:xfrm>
            <a:off x="4640580" y="3657600"/>
            <a:ext cx="2880360" cy="365760"/>
          </a:xfrm>
          <a:prstGeom prst="rect">
            <a:avLst/>
          </a:prstGeom>
          <a:noFill/>
          <a:ln/>
        </p:spPr>
        <p:txBody>
          <a:bodyPr wrap="square" lIns="0" tIns="0" rIns="0" bIns="0" rtlCol="0" anchor="t"/>
          <a:lstStyle/>
          <a:p>
            <a:pPr indent="0" marL="0">
              <a:buNone/>
            </a:pPr>
            <a:r>
              <a:rPr lang="en-US" sz="1800" b="1" dirty="0">
                <a:solidFill>
                  <a:schemeClr val="tx2"/>
                </a:solidFill>
              </a:rPr>
              <a:t>Drawings and PDFs</a:t>
            </a:r>
            <a:endParaRPr lang="en-US" sz="1800" dirty="0"/>
          </a:p>
        </p:txBody>
      </p:sp>
      <p:sp>
        <p:nvSpPr>
          <p:cNvPr id="12" name="Text 10"/>
          <p:cNvSpPr txBox="1"/>
          <p:nvPr/>
        </p:nvSpPr>
        <p:spPr>
          <a:xfrm>
            <a:off x="4640580" y="406908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Start a case from an uploaded document.</a:t>
            </a:r>
            <a:endParaRPr lang="en-US" sz="1400" dirty="0"/>
          </a:p>
        </p:txBody>
      </p:sp>
      <p:sp>
        <p:nvSpPr>
          <p:cNvPr id="13" name="Shape 11"/>
          <p:cNvSpPr/>
          <p:nvPr/>
        </p:nvSpPr>
        <p:spPr>
          <a:xfrm>
            <a:off x="8092440" y="3474720"/>
            <a:ext cx="3429000" cy="1097280"/>
          </a:xfrm>
          <a:prstGeom prst="roundRect">
            <a:avLst>
              <a:gd name="adj" fmla="val 10000"/>
            </a:avLst>
          </a:prstGeom>
          <a:solidFill>
            <a:schemeClr val="bg2"/>
          </a:solidFill>
          <a:ln/>
        </p:spPr>
      </p:sp>
      <p:sp>
        <p:nvSpPr>
          <p:cNvPr id="14" name="Text 12"/>
          <p:cNvSpPr txBox="1"/>
          <p:nvPr/>
        </p:nvSpPr>
        <p:spPr>
          <a:xfrm>
            <a:off x="8366760" y="3657600"/>
            <a:ext cx="2880360" cy="365760"/>
          </a:xfrm>
          <a:prstGeom prst="rect">
            <a:avLst/>
          </a:prstGeom>
          <a:noFill/>
          <a:ln/>
        </p:spPr>
        <p:txBody>
          <a:bodyPr wrap="square" lIns="0" tIns="0" rIns="0" bIns="0" rtlCol="0" anchor="t"/>
          <a:lstStyle/>
          <a:p>
            <a:pPr indent="0" marL="0">
              <a:buNone/>
            </a:pPr>
            <a:r>
              <a:rPr lang="en-US" sz="1800" b="1" dirty="0">
                <a:solidFill>
                  <a:schemeClr val="tx2"/>
                </a:solidFill>
              </a:rPr>
              <a:t>Outreach</a:t>
            </a:r>
            <a:endParaRPr lang="en-US" sz="1800" dirty="0"/>
          </a:p>
        </p:txBody>
      </p:sp>
      <p:sp>
        <p:nvSpPr>
          <p:cNvPr id="15" name="Text 13"/>
          <p:cNvSpPr txBox="1"/>
          <p:nvPr/>
        </p:nvSpPr>
        <p:spPr>
          <a:xfrm>
            <a:off x="8366760" y="406908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Follow-ups drafted, each one approved by the buyer.</a:t>
            </a:r>
            <a:endParaRPr lang="en-US" sz="1400" dirty="0"/>
          </a:p>
        </p:txBody>
      </p:sp>
      <p:sp>
        <p:nvSpPr>
          <p:cNvPr id="16" name="Shape 14"/>
          <p:cNvSpPr/>
          <p:nvPr/>
        </p:nvSpPr>
        <p:spPr>
          <a:xfrm>
            <a:off x="640080" y="4800600"/>
            <a:ext cx="3429000" cy="1097280"/>
          </a:xfrm>
          <a:prstGeom prst="roundRect">
            <a:avLst>
              <a:gd name="adj" fmla="val 10000"/>
            </a:avLst>
          </a:prstGeom>
          <a:solidFill>
            <a:schemeClr val="bg2"/>
          </a:solidFill>
          <a:ln/>
        </p:spPr>
      </p:sp>
      <p:sp>
        <p:nvSpPr>
          <p:cNvPr id="17" name="Text 15"/>
          <p:cNvSpPr txBox="1"/>
          <p:nvPr/>
        </p:nvSpPr>
        <p:spPr>
          <a:xfrm>
            <a:off x="914400" y="4983480"/>
            <a:ext cx="2880360" cy="365760"/>
          </a:xfrm>
          <a:prstGeom prst="rect">
            <a:avLst/>
          </a:prstGeom>
          <a:noFill/>
          <a:ln/>
        </p:spPr>
        <p:txBody>
          <a:bodyPr wrap="square" lIns="0" tIns="0" rIns="0" bIns="0" rtlCol="0" anchor="t"/>
          <a:lstStyle/>
          <a:p>
            <a:pPr indent="0" marL="0">
              <a:buNone/>
            </a:pPr>
            <a:r>
              <a:rPr lang="en-US" sz="1800" b="1" dirty="0">
                <a:solidFill>
                  <a:schemeClr val="tx2"/>
                </a:solidFill>
              </a:rPr>
              <a:t>Monitoring</a:t>
            </a:r>
            <a:endParaRPr lang="en-US" sz="1800" dirty="0"/>
          </a:p>
        </p:txBody>
      </p:sp>
      <p:sp>
        <p:nvSpPr>
          <p:cNvPr id="18" name="Text 16"/>
          <p:cNvSpPr txBox="1"/>
          <p:nvPr/>
        </p:nvSpPr>
        <p:spPr>
          <a:xfrm>
            <a:off x="914400" y="539496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Re-check suppliers over time.</a:t>
            </a:r>
            <a:endParaRPr lang="en-US" sz="1400" dirty="0"/>
          </a:p>
        </p:txBody>
      </p:sp>
      <p:sp>
        <p:nvSpPr>
          <p:cNvPr id="19" name="Shape 17"/>
          <p:cNvSpPr/>
          <p:nvPr/>
        </p:nvSpPr>
        <p:spPr>
          <a:xfrm>
            <a:off x="4366260" y="4800600"/>
            <a:ext cx="3429000" cy="1097280"/>
          </a:xfrm>
          <a:prstGeom prst="roundRect">
            <a:avLst>
              <a:gd name="adj" fmla="val 10000"/>
            </a:avLst>
          </a:prstGeom>
          <a:solidFill>
            <a:schemeClr val="bg2"/>
          </a:solidFill>
          <a:ln/>
        </p:spPr>
      </p:sp>
      <p:sp>
        <p:nvSpPr>
          <p:cNvPr id="20" name="Text 18"/>
          <p:cNvSpPr txBox="1"/>
          <p:nvPr/>
        </p:nvSpPr>
        <p:spPr>
          <a:xfrm>
            <a:off x="4640580" y="4983480"/>
            <a:ext cx="2880360" cy="365760"/>
          </a:xfrm>
          <a:prstGeom prst="rect">
            <a:avLst/>
          </a:prstGeom>
          <a:noFill/>
          <a:ln/>
        </p:spPr>
        <p:txBody>
          <a:bodyPr wrap="square" lIns="0" tIns="0" rIns="0" bIns="0" rtlCol="0" anchor="t"/>
          <a:lstStyle/>
          <a:p>
            <a:pPr indent="0" marL="0">
              <a:buNone/>
            </a:pPr>
            <a:r>
              <a:rPr lang="en-US" sz="1800" b="1" dirty="0">
                <a:solidFill>
                  <a:schemeClr val="tx2"/>
                </a:solidFill>
              </a:rPr>
              <a:t>Voice acceptance</a:t>
            </a:r>
            <a:endParaRPr lang="en-US" sz="1800" dirty="0"/>
          </a:p>
        </p:txBody>
      </p:sp>
      <p:sp>
        <p:nvSpPr>
          <p:cNvPr id="21" name="Text 19"/>
          <p:cNvSpPr txBox="1"/>
          <p:nvPr/>
        </p:nvSpPr>
        <p:spPr>
          <a:xfrm>
            <a:off x="4640580" y="539496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Prove spoken input works for real buyers.</a:t>
            </a:r>
            <a:endParaRPr lang="en-US" sz="1400" dirty="0"/>
          </a:p>
        </p:txBody>
      </p:sp>
      <p:sp>
        <p:nvSpPr>
          <p:cNvPr id="22" name="Shape 20"/>
          <p:cNvSpPr/>
          <p:nvPr/>
        </p:nvSpPr>
        <p:spPr>
          <a:xfrm>
            <a:off x="8092440" y="4800600"/>
            <a:ext cx="3429000" cy="1097280"/>
          </a:xfrm>
          <a:prstGeom prst="roundRect">
            <a:avLst>
              <a:gd name="adj" fmla="val 10000"/>
            </a:avLst>
          </a:prstGeom>
          <a:solidFill>
            <a:schemeClr val="bg2"/>
          </a:solidFill>
          <a:ln/>
        </p:spPr>
      </p:sp>
      <p:sp>
        <p:nvSpPr>
          <p:cNvPr id="23" name="Text 21"/>
          <p:cNvSpPr txBox="1"/>
          <p:nvPr/>
        </p:nvSpPr>
        <p:spPr>
          <a:xfrm>
            <a:off x="8366760" y="4983480"/>
            <a:ext cx="2880360" cy="365760"/>
          </a:xfrm>
          <a:prstGeom prst="rect">
            <a:avLst/>
          </a:prstGeom>
          <a:noFill/>
          <a:ln/>
        </p:spPr>
        <p:txBody>
          <a:bodyPr wrap="square" lIns="0" tIns="0" rIns="0" bIns="0" rtlCol="0" anchor="t"/>
          <a:lstStyle/>
          <a:p>
            <a:pPr indent="0" marL="0">
              <a:buNone/>
            </a:pPr>
            <a:r>
              <a:rPr lang="en-US" sz="1800" b="1" dirty="0">
                <a:solidFill>
                  <a:schemeClr val="tx2"/>
                </a:solidFill>
              </a:rPr>
              <a:t>Second country</a:t>
            </a:r>
            <a:endParaRPr lang="en-US" sz="1800" dirty="0"/>
          </a:p>
        </p:txBody>
      </p:sp>
      <p:sp>
        <p:nvSpPr>
          <p:cNvPr id="24" name="Text 22"/>
          <p:cNvSpPr txBox="1"/>
          <p:nvPr/>
        </p:nvSpPr>
        <p:spPr>
          <a:xfrm>
            <a:off x="8366760" y="5394960"/>
            <a:ext cx="2880360" cy="457200"/>
          </a:xfrm>
          <a:prstGeom prst="rect">
            <a:avLst/>
          </a:prstGeom>
          <a:noFill/>
          <a:ln/>
        </p:spPr>
        <p:txBody>
          <a:bodyPr wrap="square" lIns="0" tIns="0" rIns="0" bIns="0" rtlCol="0" anchor="t"/>
          <a:lstStyle/>
          <a:p>
            <a:pPr indent="0" marL="0">
              <a:buNone/>
            </a:pPr>
            <a:r>
              <a:rPr lang="en-US" sz="1400" dirty="0">
                <a:solidFill>
                  <a:schemeClr val="accent5"/>
                </a:solidFill>
              </a:rPr>
              <a:t>Extend beyond India.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8778240" cy="1737360"/>
          </a:xfrm>
          <a:prstGeom prst="rect">
            <a:avLst/>
          </a:prstGeom>
          <a:noFill/>
          <a:ln/>
        </p:spPr>
        <p:txBody>
          <a:bodyPr wrap="square" lIns="0" tIns="0" rIns="0" bIns="0" rtlCol="0" anchor="t"/>
          <a:lstStyle/>
          <a:p>
            <a:pPr algn="l" indent="0" marL="0">
              <a:buNone/>
            </a:pPr>
            <a:r>
              <a:rPr lang="en-US" sz="5400" b="1" dirty="0">
                <a:solidFill>
                  <a:schemeClr val="bg1"/>
                </a:solidFill>
              </a:rPr>
              <a:t>The agent proposes. The buyer decides.</a:t>
            </a:r>
            <a:endParaRPr lang="en-US" sz="5400" dirty="0"/>
          </a:p>
        </p:txBody>
      </p:sp>
      <p:sp>
        <p:nvSpPr>
          <p:cNvPr id="3" name="Text 0"/>
          <p:cNvSpPr/>
          <p:nvPr>
            <p:ph idx="101" type="body" hasCustomPrompt="1"/>
          </p:nvPr>
        </p:nvSpPr>
        <p:spPr>
          <a:xfrm>
            <a:off x="640080" y="3749040"/>
            <a:ext cx="8229600" cy="1188720"/>
          </a:xfrm>
          <a:prstGeom prst="rect">
            <a:avLst/>
          </a:prstGeom>
          <a:noFill/>
          <a:ln/>
        </p:spPr>
        <p:txBody>
          <a:bodyPr wrap="square" lIns="0" tIns="0" rIns="0" bIns="0" rtlCol="0" anchor="t"/>
          <a:lstStyle/>
          <a:p>
            <a:pPr algn="l" indent="0" marL="0">
              <a:buNone/>
            </a:pPr>
            <a:r>
              <a:rPr lang="en-US" sz="2200" dirty="0">
                <a:solidFill>
                  <a:schemeClr val="accent6"/>
                </a:solidFill>
              </a:rPr>
              <a:t>Every answer is tied to a source, a date and the checks that were tried. A gap is shown as a gap.</a:t>
            </a:r>
            <a:endParaRPr lang="en-US" sz="2200" dirty="0"/>
          </a:p>
        </p:txBody>
      </p:sp>
      <p:sp>
        <p:nvSpPr>
          <p:cNvPr id="4" name="Text 2"/>
          <p:cNvSpPr txBox="1"/>
          <p:nvPr/>
        </p:nvSpPr>
        <p:spPr>
          <a:xfrm>
            <a:off x="640080" y="5760720"/>
            <a:ext cx="7315200" cy="457200"/>
          </a:xfrm>
          <a:prstGeom prst="rect">
            <a:avLst/>
          </a:prstGeom>
          <a:noFill/>
          <a:ln/>
        </p:spPr>
        <p:txBody>
          <a:bodyPr wrap="square" lIns="0" tIns="0" rIns="0" bIns="0" rtlCol="0" anchor="t"/>
          <a:lstStyle/>
          <a:p>
            <a:pPr indent="0" marL="0">
              <a:buNone/>
            </a:pPr>
            <a:r>
              <a:rPr lang="en-US" sz="2400" b="1" dirty="0">
                <a:solidFill>
                  <a:schemeClr val="bg1"/>
                </a:solidFill>
              </a:rPr>
              <a:t>Thank you. Questions?</a:t>
            </a:r>
            <a:endParaRPr lang="en-US" sz="2400" dirty="0"/>
          </a:p>
        </p:txBody>
      </p:sp>
    </p:spTree>
  </p:cSld>
  <p:clrMapOvr>
    <a:masterClrMapping/>
  </p:clrMapOvr>
</p:sld>
</file>

<file path=ppt/theme/theme1.xml><?xml version="1.0" encoding="utf-8"?>
<a:theme xmlns:a="http://schemas.openxmlformats.org/drawingml/2006/main" name="VeriSource">
  <a:themeElements>
    <a:clrScheme name="VeriSource">
      <a:dk1>
        <a:srgbClr val="12201F"/>
      </a:dk1>
      <a:lt1>
        <a:srgbClr val="FFFFFF"/>
      </a:lt1>
      <a:dk2>
        <a:srgbClr val="0B3D3A"/>
      </a:dk2>
      <a:lt2>
        <a:srgbClr val="EEF4F3"/>
      </a:lt2>
      <a:accent1>
        <a:srgbClr val="0F766E"/>
      </a:accent1>
      <a:accent2>
        <a:srgbClr val="B45309"/>
      </a:accent2>
      <a:accent3>
        <a:srgbClr val="15803D"/>
      </a:accent3>
      <a:accent4>
        <a:srgbClr val="B91C1C"/>
      </a:accent4>
      <a:accent5>
        <a:srgbClr val="5B6B6A"/>
      </a:accent5>
      <a:accent6>
        <a:srgbClr val="99D5CE"/>
      </a:accent6>
      <a:hlink>
        <a:srgbClr val="0F766E"/>
      </a:hlink>
      <a:folHlink>
        <a:srgbClr val="5B6B6A"/>
      </a:folHlink>
    </a:clrScheme>
    <a:fontScheme name="VeriSour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VeriSource demo</dc:title>
  <dc:subject>Supplier verification agent</dc:subject>
  <dc:creator>PptxGenJS</dc:creator>
  <cp:lastModifiedBy>PptxGenJS</cp:lastModifiedBy>
  <cp:revision>1</cp:revision>
  <dcterms:created xsi:type="dcterms:W3CDTF">2026-10-21T08:16:33Z</dcterms:created>
  <dcterms:modified xsi:type="dcterms:W3CDTF">2026-10-21T08:16:33Z</dcterms:modified>
</cp:coreProperties>
</file>